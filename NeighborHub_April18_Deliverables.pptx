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86" y="2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91672" cy="41148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NeighborHub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265" y="2616681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97316"/>
                </a:solidFill>
              </a:rPr>
              <a:t>IT Elective 2 - Task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265" y="306781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Core System Development: User Authentication &amp; Data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17" y="351586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0F4F8"/>
                </a:solidFill>
              </a:rPr>
              <a:t>April 18, 2026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103BE7A7-BD83-D4DE-7C41-39E437C8C163}"/>
              </a:ext>
            </a:extLst>
          </p:cNvPr>
          <p:cNvSpPr txBox="1"/>
          <p:nvPr/>
        </p:nvSpPr>
        <p:spPr>
          <a:xfrm>
            <a:off x="2740518" y="3944376"/>
            <a:ext cx="6680483" cy="158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Earl Brian Baclohan</a:t>
            </a:r>
          </a:p>
          <a:p>
            <a:pPr algn="ctr">
              <a:lnSpc>
                <a:spcPts val="3242"/>
              </a:lnSpc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Justin Wayne G.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Miaga</a:t>
            </a:r>
            <a:endParaRPr lang="en-US" sz="14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3242"/>
              </a:lnSpc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Knoxville Nur A.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Suazola</a:t>
            </a:r>
            <a:endParaRPr lang="en-US" sz="14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3242"/>
              </a:lnSpc>
            </a:pPr>
            <a:endParaRPr lang="en-US" sz="14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96A28746-995D-18EC-026A-9F187686EC67}"/>
              </a:ext>
            </a:extLst>
          </p:cNvPr>
          <p:cNvSpPr txBox="1"/>
          <p:nvPr/>
        </p:nvSpPr>
        <p:spPr>
          <a:xfrm>
            <a:off x="2781475" y="5574888"/>
            <a:ext cx="6680483" cy="26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200" dirty="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Full Stack Application Project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315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E3A5F"/>
                </a:solidFill>
              </a:rPr>
              <a:t>What is NeighborHub?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1F2937"/>
                </a:solidFill>
              </a:rPr>
              <a:t>A local community marketplace platform where users can buy and sell items and services within their neighborhood.</a:t>
            </a:r>
          </a:p>
          <a:p>
            <a:pPr algn="l">
              <a:spcBef>
                <a:spcPts val="0"/>
              </a:spcBef>
            </a:pPr>
            <a:endParaRPr sz="1400" b="0">
              <a:solidFill>
                <a:srgbClr val="1F2937"/>
              </a:solidFill>
            </a:endParaRP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2B5C9E"/>
                </a:solidFill>
              </a:rPr>
              <a:t>Key Features: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</a:rPr>
              <a:t>  Post and browse local listings (products &amp; services)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</a:rPr>
              <a:t>  Secure user accounts with JWT authentication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</a:rPr>
              <a:t>  Place and manage orders between buyers and sellers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</a:rPr>
              <a:t>  Leave reviews and ratings for sellers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</a:rPr>
              <a:t>  Real-time notifications (polling every 30s)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</a:rPr>
              <a:t>  Admin dashboard for platform oversight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188720"/>
            <a:ext cx="36576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371600"/>
            <a:ext cx="3291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1E3A5F"/>
                </a:solidFill>
              </a:rPr>
              <a:t>Tech Stack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Frontend: </a:t>
            </a:r>
            <a:r>
              <a:rPr sz="1200" dirty="0">
                <a:solidFill>
                  <a:srgbClr val="1F2937"/>
                </a:solidFill>
              </a:rPr>
              <a:t>React 19 + Vite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Styling: </a:t>
            </a:r>
            <a:r>
              <a:rPr sz="1200" dirty="0">
                <a:solidFill>
                  <a:srgbClr val="1F2937"/>
                </a:solidFill>
              </a:rPr>
              <a:t>Tailwind CSS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Routing: </a:t>
            </a:r>
            <a:r>
              <a:rPr sz="1200" dirty="0">
                <a:solidFill>
                  <a:srgbClr val="1F2937"/>
                </a:solidFill>
              </a:rPr>
              <a:t>React Router DOM 7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HTTP Client: </a:t>
            </a:r>
            <a:r>
              <a:rPr sz="1200" dirty="0">
                <a:solidFill>
                  <a:srgbClr val="1F2937"/>
                </a:solidFill>
              </a:rPr>
              <a:t>Axios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Backend: </a:t>
            </a:r>
            <a:r>
              <a:rPr sz="1200" dirty="0">
                <a:solidFill>
                  <a:srgbClr val="1F2937"/>
                </a:solidFill>
              </a:rPr>
              <a:t>Express.js (Node.js)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Database: </a:t>
            </a:r>
            <a:r>
              <a:rPr sz="1200" dirty="0">
                <a:solidFill>
                  <a:srgbClr val="1F2937"/>
                </a:solidFill>
              </a:rPr>
              <a:t>MySQL (Railway)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Auth: </a:t>
            </a:r>
            <a:r>
              <a:rPr sz="1200" dirty="0">
                <a:solidFill>
                  <a:srgbClr val="1F2937"/>
                </a:solidFill>
              </a:rPr>
              <a:t>JWT (7-day tokens)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Encryption: </a:t>
            </a:r>
            <a:r>
              <a:rPr sz="1200" dirty="0" err="1">
                <a:solidFill>
                  <a:srgbClr val="1F2937"/>
                </a:solidFill>
              </a:rPr>
              <a:t>BCryptjs</a:t>
            </a:r>
            <a:r>
              <a:rPr sz="1200" dirty="0">
                <a:solidFill>
                  <a:srgbClr val="1F2937"/>
                </a:solidFill>
              </a:rPr>
              <a:t> (salt 12)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Validation: </a:t>
            </a:r>
            <a:r>
              <a:rPr sz="1200" dirty="0">
                <a:solidFill>
                  <a:srgbClr val="1F2937"/>
                </a:solidFill>
              </a:rPr>
              <a:t>express-validator</a:t>
            </a:r>
          </a:p>
          <a:p>
            <a:pPr>
              <a:spcBef>
                <a:spcPts val="700"/>
              </a:spcBef>
            </a:pPr>
            <a:r>
              <a:rPr sz="1200" b="1" dirty="0">
                <a:solidFill>
                  <a:srgbClr val="2B5C9E"/>
                </a:solidFill>
              </a:rPr>
              <a:t>Security: </a:t>
            </a:r>
            <a:r>
              <a:rPr sz="1200" dirty="0">
                <a:solidFill>
                  <a:srgbClr val="1F2937"/>
                </a:solidFill>
              </a:rPr>
              <a:t>Helmet.js + Rate Limit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Deliverable 1 - User Authentication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36576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051560"/>
            <a:ext cx="3657600" cy="50292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User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Full registration form: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Full Name, Email, Password,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Confirm Password, City, Barangay</a:t>
            </a:r>
          </a:p>
          <a:p>
            <a:pPr>
              <a:spcBef>
                <a:spcPts val="300"/>
              </a:spcBef>
            </a:pPr>
            <a:endParaRPr sz="115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Frontend validation on submit: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Email format (regex check)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Password min 8 characters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Passwords must match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Required fields enforced</a:t>
            </a:r>
          </a:p>
          <a:p>
            <a:pPr>
              <a:spcBef>
                <a:spcPts val="300"/>
              </a:spcBef>
            </a:pPr>
            <a:endParaRPr sz="115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Backend: POST /api/auth/register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express-validator rules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BCrypt hash before DB insert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Auto-login after registration</a:t>
            </a:r>
          </a:p>
          <a:p>
            <a:pPr>
              <a:spcBef>
                <a:spcPts val="300"/>
              </a:spcBef>
            </a:pPr>
            <a:endParaRPr sz="115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File: src/pages/Register.jsx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051560"/>
            <a:ext cx="36576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051560"/>
            <a:ext cx="3657600" cy="50292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User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64592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Login form: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Email + Password fields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Show/hide password toggle</a:t>
            </a:r>
          </a:p>
          <a:p>
            <a:pPr>
              <a:spcBef>
                <a:spcPts val="300"/>
              </a:spcBef>
            </a:pPr>
            <a:endParaRPr sz="115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Frontend validation: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Both fields required</a:t>
            </a:r>
          </a:p>
          <a:p>
            <a:pPr>
              <a:spcBef>
                <a:spcPts val="300"/>
              </a:spcBef>
            </a:pPr>
            <a:endParaRPr sz="115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Backend: POST /</a:t>
            </a:r>
            <a:r>
              <a:rPr sz="1150" dirty="0" err="1">
                <a:solidFill>
                  <a:srgbClr val="1F2937"/>
                </a:solidFill>
              </a:rPr>
              <a:t>api</a:t>
            </a:r>
            <a:r>
              <a:rPr sz="1150" dirty="0">
                <a:solidFill>
                  <a:srgbClr val="1F2937"/>
                </a:solidFill>
              </a:rPr>
              <a:t>/auth/login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Email lookup in database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</a:t>
            </a:r>
            <a:r>
              <a:rPr sz="1150" dirty="0" err="1">
                <a:solidFill>
                  <a:srgbClr val="1F2937"/>
                </a:solidFill>
              </a:rPr>
              <a:t>BCrypt.compare</a:t>
            </a:r>
            <a:r>
              <a:rPr sz="1150" dirty="0">
                <a:solidFill>
                  <a:srgbClr val="1F2937"/>
                </a:solidFill>
              </a:rPr>
              <a:t>() password check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Returns JWT token on success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Redirects to original URL</a:t>
            </a:r>
          </a:p>
          <a:p>
            <a:pPr>
              <a:spcBef>
                <a:spcPts val="300"/>
              </a:spcBef>
            </a:pPr>
            <a:endParaRPr sz="115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Toast notifications for: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Success, wrong password,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user not found</a:t>
            </a:r>
          </a:p>
          <a:p>
            <a:pPr>
              <a:spcBef>
                <a:spcPts val="300"/>
              </a:spcBef>
            </a:pPr>
            <a:endParaRPr sz="115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File: </a:t>
            </a:r>
            <a:r>
              <a:rPr sz="1150" dirty="0" err="1">
                <a:solidFill>
                  <a:srgbClr val="1F2937"/>
                </a:solidFill>
              </a:rPr>
              <a:t>src</a:t>
            </a:r>
            <a:r>
              <a:rPr sz="1150" dirty="0">
                <a:solidFill>
                  <a:srgbClr val="1F2937"/>
                </a:solidFill>
              </a:rPr>
              <a:t>/pages/</a:t>
            </a:r>
            <a:r>
              <a:rPr sz="1150" dirty="0" err="1">
                <a:solidFill>
                  <a:srgbClr val="1F2937"/>
                </a:solidFill>
              </a:rPr>
              <a:t>Login.jsx</a:t>
            </a:r>
            <a:endParaRPr sz="1150" dirty="0">
              <a:solidFill>
                <a:srgbClr val="1F2937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58200" y="1051560"/>
            <a:ext cx="3657600" cy="5577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58200" y="1051560"/>
            <a:ext cx="3657600" cy="50292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1097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User Logout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64592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Logout button in Navbar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(visible when logged in)</a:t>
            </a:r>
          </a:p>
          <a:p>
            <a:pPr>
              <a:spcBef>
                <a:spcPts val="300"/>
              </a:spcBef>
            </a:pPr>
            <a:endParaRPr sz="115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Action sequence: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Clears </a:t>
            </a:r>
            <a:r>
              <a:rPr sz="1150" dirty="0" err="1">
                <a:solidFill>
                  <a:srgbClr val="1F2937"/>
                </a:solidFill>
              </a:rPr>
              <a:t>localStorage</a:t>
            </a:r>
            <a:r>
              <a:rPr sz="1150" dirty="0">
                <a:solidFill>
                  <a:srgbClr val="1F2937"/>
                </a:solidFill>
              </a:rPr>
              <a:t> tokens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(</a:t>
            </a:r>
            <a:r>
              <a:rPr sz="1150" dirty="0" err="1">
                <a:solidFill>
                  <a:srgbClr val="1F2937"/>
                </a:solidFill>
              </a:rPr>
              <a:t>nh_token</a:t>
            </a:r>
            <a:r>
              <a:rPr sz="1150" dirty="0">
                <a:solidFill>
                  <a:srgbClr val="1F2937"/>
                </a:solidFill>
              </a:rPr>
              <a:t> and </a:t>
            </a:r>
            <a:r>
              <a:rPr sz="1150" dirty="0" err="1">
                <a:solidFill>
                  <a:srgbClr val="1F2937"/>
                </a:solidFill>
              </a:rPr>
              <a:t>nh_user</a:t>
            </a:r>
            <a:r>
              <a:rPr sz="1150" dirty="0">
                <a:solidFill>
                  <a:srgbClr val="1F2937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Sets user state to null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Shows toast confirmation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Redirects to home page</a:t>
            </a:r>
          </a:p>
          <a:p>
            <a:pPr>
              <a:spcBef>
                <a:spcPts val="300"/>
              </a:spcBef>
            </a:pPr>
            <a:endParaRPr sz="115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Auto-logout triggers on: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Any 401 response from API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Invalid/expired token on</a:t>
            </a: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  app mount/refresh</a:t>
            </a:r>
          </a:p>
          <a:p>
            <a:pPr>
              <a:spcBef>
                <a:spcPts val="300"/>
              </a:spcBef>
            </a:pPr>
            <a:endParaRPr sz="115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 dirty="0">
                <a:solidFill>
                  <a:srgbClr val="1F2937"/>
                </a:solidFill>
              </a:rPr>
              <a:t>File: </a:t>
            </a:r>
            <a:r>
              <a:rPr sz="1150" dirty="0" err="1">
                <a:solidFill>
                  <a:srgbClr val="1F2937"/>
                </a:solidFill>
              </a:rPr>
              <a:t>src</a:t>
            </a:r>
            <a:r>
              <a:rPr sz="1150" dirty="0">
                <a:solidFill>
                  <a:srgbClr val="1F2937"/>
                </a:solidFill>
              </a:rPr>
              <a:t>/context/</a:t>
            </a:r>
            <a:r>
              <a:rPr sz="1150" dirty="0" err="1">
                <a:solidFill>
                  <a:srgbClr val="1F2937"/>
                </a:solidFill>
              </a:rPr>
              <a:t>AuthContext.jsx</a:t>
            </a:r>
            <a:endParaRPr sz="1150" dirty="0">
              <a:solidFill>
                <a:srgbClr val="1F293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Deliverable 2 - Security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4572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BCrypt Password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19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Library: bcryptjs v3.0.3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Salt rounds: 12 (industry standard)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Passwords NEVER stored in plain text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Hash on register, compare() on login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Passwords excluded from all API responses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File: server/src/controllers/authController.js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9728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5577840" cy="4572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1704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JWT Token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19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Library: jsonwebtoken v9.0.3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Token expiry: 7 days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Signed with JWT_SECRET from .env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Bearer token in Authorization header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Axios interceptor auto-attaches token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Auto-logout on any 401 response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File: server/src/middleware/auth.js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5577840" cy="4572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Rate Limiting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80559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Library: express-rate-limit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General API: 200 requests / 15 min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Auth endpoints: 20 requests / 15 min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Prevents brute force login attacks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Returns 429 Too Many Requests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File: server/server.js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93192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3931920"/>
            <a:ext cx="5577840" cy="4572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00507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Additional Hardening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80559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Helmet.js - sets secure HTTP headers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CORS whitelist (allowed origins only)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.env for all secrets and credentials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protect middleware on private routes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Ownership checks before update/delete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File: server/server.js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Deliverable 3 - Validation &amp; Session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9496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4572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Frontend Form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19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Register Form (src/pages/Register.jsx):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Name - required, non-empty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Email - required + regex format check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Password - required, min 8 characters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Confirm Password - must match password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City - required field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Real-time error messages with red borders</a:t>
            </a:r>
          </a:p>
          <a:p>
            <a:pPr>
              <a:spcBef>
                <a:spcPts val="300"/>
              </a:spcBef>
            </a:pPr>
            <a:endParaRPr sz="120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Login Form (src/pages/Login.jsx):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Email - required, non-empty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Password - required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F2937"/>
                </a:solidFill>
              </a:rPr>
              <a:t>  Toast notification on error or success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94960" cy="2740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5394960" cy="4572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1704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Backend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589532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Library: express-validator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Register endpoint rules: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name: trimmed, not empty, max 100 chars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email: valid email, normalized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password: not empty, min 8 chars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city: trimmed, not empty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Login endpoint rules: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email: valid + normalized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password: not empty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File: server/</a:t>
            </a:r>
            <a:r>
              <a:rPr sz="1200" dirty="0" err="1">
                <a:solidFill>
                  <a:srgbClr val="1F2937"/>
                </a:solidFill>
              </a:rPr>
              <a:t>src</a:t>
            </a:r>
            <a:r>
              <a:rPr sz="1200" dirty="0">
                <a:solidFill>
                  <a:srgbClr val="1F2937"/>
                </a:solidFill>
              </a:rPr>
              <a:t>/routes/auth.routes.js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874008"/>
            <a:ext cx="5394960" cy="2923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3874008"/>
            <a:ext cx="5394960" cy="4572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39471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Session Handling &amp;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521208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Token stored in </a:t>
            </a:r>
            <a:r>
              <a:rPr sz="1200" dirty="0" err="1">
                <a:solidFill>
                  <a:srgbClr val="1F2937"/>
                </a:solidFill>
              </a:rPr>
              <a:t>localStorage</a:t>
            </a:r>
            <a:r>
              <a:rPr sz="1200" dirty="0">
                <a:solidFill>
                  <a:srgbClr val="1F2937"/>
                </a:solidFill>
              </a:rPr>
              <a:t> (</a:t>
            </a:r>
            <a:r>
              <a:rPr sz="1200" dirty="0" err="1">
                <a:solidFill>
                  <a:srgbClr val="1F2937"/>
                </a:solidFill>
              </a:rPr>
              <a:t>nh_token</a:t>
            </a:r>
            <a:r>
              <a:rPr sz="1200" dirty="0">
                <a:solidFill>
                  <a:srgbClr val="1F2937"/>
                </a:solidFill>
              </a:rPr>
              <a:t>, </a:t>
            </a:r>
            <a:r>
              <a:rPr sz="1200" dirty="0" err="1">
                <a:solidFill>
                  <a:srgbClr val="1F2937"/>
                </a:solidFill>
              </a:rPr>
              <a:t>nh_user</a:t>
            </a:r>
            <a:r>
              <a:rPr sz="1200" dirty="0">
                <a:solidFill>
                  <a:srgbClr val="1F2937"/>
                </a:solidFill>
              </a:rPr>
              <a:t>)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On app mount: token validated via GET /</a:t>
            </a:r>
            <a:r>
              <a:rPr sz="1200" dirty="0" err="1">
                <a:solidFill>
                  <a:srgbClr val="1F2937"/>
                </a:solidFill>
              </a:rPr>
              <a:t>api</a:t>
            </a:r>
            <a:r>
              <a:rPr sz="1200" dirty="0">
                <a:solidFill>
                  <a:srgbClr val="1F2937"/>
                </a:solidFill>
              </a:rPr>
              <a:t>/auth/me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Invalid/expired token - auto-clear + redirect to login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Loading spinner shown during token validation</a:t>
            </a:r>
          </a:p>
          <a:p>
            <a:pPr>
              <a:spcBef>
                <a:spcPts val="300"/>
              </a:spcBef>
            </a:pPr>
            <a:endParaRPr sz="120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 err="1">
                <a:solidFill>
                  <a:srgbClr val="1F2937"/>
                </a:solidFill>
              </a:rPr>
              <a:t>ProtectedRoute</a:t>
            </a:r>
            <a:r>
              <a:rPr sz="1200" dirty="0">
                <a:solidFill>
                  <a:srgbClr val="1F2937"/>
                </a:solidFill>
              </a:rPr>
              <a:t> component: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Wraps all private pages in </a:t>
            </a:r>
            <a:r>
              <a:rPr sz="1200" dirty="0" err="1">
                <a:solidFill>
                  <a:srgbClr val="1F2937"/>
                </a:solidFill>
              </a:rPr>
              <a:t>App.jsx</a:t>
            </a:r>
            <a:endParaRPr sz="120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Checks user in </a:t>
            </a:r>
            <a:r>
              <a:rPr sz="1200" dirty="0" err="1">
                <a:solidFill>
                  <a:srgbClr val="1F2937"/>
                </a:solidFill>
              </a:rPr>
              <a:t>AuthContext</a:t>
            </a:r>
            <a:endParaRPr sz="1200" dirty="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Preserves original URL for post-login redirect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Protected: /create-listing, /messages, /orders,</a:t>
            </a:r>
          </a:p>
          <a:p>
            <a:pPr>
              <a:spcBef>
                <a:spcPts val="300"/>
              </a:spcBef>
            </a:pPr>
            <a:r>
              <a:rPr sz="1200" dirty="0">
                <a:solidFill>
                  <a:srgbClr val="1F2937"/>
                </a:solidFill>
              </a:rPr>
              <a:t>  /profile, /edit-profile, /admin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Deliverable 4 - CRUD Operations (Listings Module)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560320" cy="5330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56032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392" y="1737360"/>
            <a:ext cx="2377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Frontend: src/pages/CreateListing.jsx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Form fields: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Type (product/service)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Title, Category, Description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Images (up to 5), Price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Condition, City, Barangay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Image preview + remove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FormData multipart upload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Backend: POST /api/listings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Inserts into listings +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listing_images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097280"/>
            <a:ext cx="2560320" cy="5330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097280"/>
            <a:ext cx="2560320" cy="54864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1737360"/>
            <a:ext cx="2377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Frontend: src/pages/Listings.jsx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Browse with filters: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Category, Type, Price Range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Sort: Newest, Price, Rating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Search via query parameter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Pagination support</a:t>
            </a:r>
          </a:p>
          <a:p>
            <a:pPr>
              <a:spcBef>
                <a:spcPts val="300"/>
              </a:spcBef>
            </a:pPr>
            <a:endParaRPr sz="115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Frontend: ListingDetail.jsx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Full listing with all images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Backend: GET /api/listings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Backend: GET /api/listings/:id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097280"/>
            <a:ext cx="2560320" cy="5330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92240" y="1097280"/>
            <a:ext cx="2560320" cy="54864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737360"/>
            <a:ext cx="237744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Frontend: src/pages/EditListing.jsx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Pre-loads existing listing data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Ownership check (must be seller)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Editable fields: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Title, Description, Price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Category, City, Condition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Service: listingService.update()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Backend: PUT /api/listings/:id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Ownership verified server-side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express-validator rules applied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55480" y="1097280"/>
            <a:ext cx="2560320" cy="5330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555480" y="1097280"/>
            <a:ext cx="256032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0" y="1143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5207" y="1737360"/>
            <a:ext cx="2377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Frontend: Delete button in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EditListing page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Confirmation before deletion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Service: listingService.delete()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Backend: DELETE /api/listings/:id</a:t>
            </a:r>
          </a:p>
          <a:p>
            <a:pPr>
              <a:spcBef>
                <a:spcPts val="300"/>
              </a:spcBef>
            </a:pPr>
            <a:endParaRPr sz="1150">
              <a:solidFill>
                <a:srgbClr val="1F2937"/>
              </a:solidFill>
            </a:endParaRP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Soft delete approach: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Sets status = 'deleted'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Maintains referential integrity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1F2937"/>
                </a:solidFill>
              </a:rPr>
              <a:t>  Ownership verified server-side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042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1F2937"/>
                </a:solidFill>
              </a:rPr>
              <a:t>Database: MySQL via mysql2/promise  |  Tables: listings, </a:t>
            </a:r>
            <a:r>
              <a:rPr sz="1100" b="0" dirty="0" err="1">
                <a:solidFill>
                  <a:srgbClr val="1F2937"/>
                </a:solidFill>
              </a:rPr>
              <a:t>listing_images</a:t>
            </a:r>
            <a:r>
              <a:rPr sz="1100" b="0" dirty="0">
                <a:solidFill>
                  <a:srgbClr val="1F2937"/>
                </a:solidFill>
              </a:rPr>
              <a:t>, categories, users, reviews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Deliverables Checklist - All Complete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43000"/>
            <a:ext cx="11430000" cy="347472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Authentication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90472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15453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45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User Registration (Sign-Up)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453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src/pages/Register.jsx  +  POST /api/auth/register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624" y="19293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29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User Login (Sign-In)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2938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src/pages/Login.jsx  +  POST /api/auth/login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58568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31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User Logout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134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AuthContext.jsx + Navbar logout button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15768"/>
            <a:ext cx="11430000" cy="347472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761487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Security Implementation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39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" y="311810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11810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Password Encryption (BCrypt)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118103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bcryptjs, salt rounds 12 - authController.js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47287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" y="350215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50215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Secure Auth Handling (JWT)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50215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JWT 7-day tokens, Bearer header, auto-logout on 401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904487"/>
            <a:ext cx="11430000" cy="347472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3950207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Validation &amp; Session Management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51959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0624" y="430682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30682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Frontend Form Validation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306823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Email regex, min password length, confirm match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636007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0624" y="469087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69087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Backend Form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69087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express-validator on all auth + listing routes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020055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0624" y="50749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0749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Session / Access 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07491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ProtectedRoute, localStorage persistence, token-on-mount check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A3F8C-559A-020F-2FF7-3C9506F7C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4ED301-EABA-34B7-8868-F04EA9066078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668D7-A980-48D8-8FE2-82C7B739695A}"/>
              </a:ext>
            </a:extLst>
          </p:cNvPr>
          <p:cNvSpPr txBox="1"/>
          <p:nvPr/>
        </p:nvSpPr>
        <p:spPr>
          <a:xfrm>
            <a:off x="36576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FFFFF"/>
                </a:solidFill>
              </a:rPr>
              <a:t>Deliverables Checklist - All Complete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8AF5C5-D5FF-FCC9-1D64-6D01B3E06FCC}"/>
              </a:ext>
            </a:extLst>
          </p:cNvPr>
          <p:cNvSpPr/>
          <p:nvPr/>
        </p:nvSpPr>
        <p:spPr>
          <a:xfrm>
            <a:off x="365760" y="1250695"/>
            <a:ext cx="11430000" cy="347472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63055E-D7EC-FA0D-4486-F8F2C647DB8A}"/>
              </a:ext>
            </a:extLst>
          </p:cNvPr>
          <p:cNvSpPr txBox="1"/>
          <p:nvPr/>
        </p:nvSpPr>
        <p:spPr>
          <a:xfrm>
            <a:off x="502920" y="1296415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CRUD Operations (Listings Module)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FAD3D9-FCC2-E4A1-7EEB-D22F372E9C09}"/>
              </a:ext>
            </a:extLst>
          </p:cNvPr>
          <p:cNvSpPr/>
          <p:nvPr/>
        </p:nvSpPr>
        <p:spPr>
          <a:xfrm>
            <a:off x="365760" y="1598167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38581E-CAD1-27D5-8EC3-A97955F66F7A}"/>
              </a:ext>
            </a:extLst>
          </p:cNvPr>
          <p:cNvSpPr txBox="1"/>
          <p:nvPr/>
        </p:nvSpPr>
        <p:spPr>
          <a:xfrm>
            <a:off x="420624" y="165303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5702A2-8B75-06A1-54B7-3575777FFFB2}"/>
              </a:ext>
            </a:extLst>
          </p:cNvPr>
          <p:cNvSpPr txBox="1"/>
          <p:nvPr/>
        </p:nvSpPr>
        <p:spPr>
          <a:xfrm>
            <a:off x="1005840" y="165303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Create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881BAB-2604-518A-A82F-0DFC6441894D}"/>
              </a:ext>
            </a:extLst>
          </p:cNvPr>
          <p:cNvSpPr txBox="1"/>
          <p:nvPr/>
        </p:nvSpPr>
        <p:spPr>
          <a:xfrm>
            <a:off x="4846320" y="165303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CreateListing.jsx  +  POST /api/listings  -&gt;  MySQL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0332F73-4A4B-8B1B-4CE5-4160D12E8295}"/>
              </a:ext>
            </a:extLst>
          </p:cNvPr>
          <p:cNvSpPr/>
          <p:nvPr/>
        </p:nvSpPr>
        <p:spPr>
          <a:xfrm>
            <a:off x="365760" y="1982215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02B633-9872-C75D-0C90-7F79F82530E3}"/>
              </a:ext>
            </a:extLst>
          </p:cNvPr>
          <p:cNvSpPr txBox="1"/>
          <p:nvPr/>
        </p:nvSpPr>
        <p:spPr>
          <a:xfrm>
            <a:off x="420624" y="20370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561478-3EB5-6320-2473-099D6A45EC65}"/>
              </a:ext>
            </a:extLst>
          </p:cNvPr>
          <p:cNvSpPr txBox="1"/>
          <p:nvPr/>
        </p:nvSpPr>
        <p:spPr>
          <a:xfrm>
            <a:off x="1005840" y="20370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Read (list)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E729A4-5B09-99BD-69A9-A4D8A3E19F57}"/>
              </a:ext>
            </a:extLst>
          </p:cNvPr>
          <p:cNvSpPr txBox="1"/>
          <p:nvPr/>
        </p:nvSpPr>
        <p:spPr>
          <a:xfrm>
            <a:off x="4846320" y="203707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Listings.jsx  +  GET /api/listings (filter, sort, paginate)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C8B561-6BF8-F66A-E9A0-FB1C1C2E605D}"/>
              </a:ext>
            </a:extLst>
          </p:cNvPr>
          <p:cNvSpPr/>
          <p:nvPr/>
        </p:nvSpPr>
        <p:spPr>
          <a:xfrm>
            <a:off x="365760" y="2366263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82CCE8-37AC-FE81-579E-A76BDFC474C7}"/>
              </a:ext>
            </a:extLst>
          </p:cNvPr>
          <p:cNvSpPr txBox="1"/>
          <p:nvPr/>
        </p:nvSpPr>
        <p:spPr>
          <a:xfrm>
            <a:off x="420624" y="242112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EA641C-27BF-6B18-B2AE-46C3909F20F2}"/>
              </a:ext>
            </a:extLst>
          </p:cNvPr>
          <p:cNvSpPr txBox="1"/>
          <p:nvPr/>
        </p:nvSpPr>
        <p:spPr>
          <a:xfrm>
            <a:off x="1005840" y="24211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Read (detail)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8CFBB8-C0CC-A57D-0BBF-183148AC26A7}"/>
              </a:ext>
            </a:extLst>
          </p:cNvPr>
          <p:cNvSpPr txBox="1"/>
          <p:nvPr/>
        </p:nvSpPr>
        <p:spPr>
          <a:xfrm>
            <a:off x="4846320" y="2421127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ListingDetail.jsx  +  GET /api/listings/:id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0E9AA0A-7B48-806F-0117-3757E839F9C6}"/>
              </a:ext>
            </a:extLst>
          </p:cNvPr>
          <p:cNvSpPr/>
          <p:nvPr/>
        </p:nvSpPr>
        <p:spPr>
          <a:xfrm>
            <a:off x="365760" y="2750311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7490DD9-FE39-9ACC-BAB9-C2B80FF2999A}"/>
              </a:ext>
            </a:extLst>
          </p:cNvPr>
          <p:cNvSpPr txBox="1"/>
          <p:nvPr/>
        </p:nvSpPr>
        <p:spPr>
          <a:xfrm>
            <a:off x="420624" y="280517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5E3DC0-8663-0375-465C-34823AF14FAA}"/>
              </a:ext>
            </a:extLst>
          </p:cNvPr>
          <p:cNvSpPr txBox="1"/>
          <p:nvPr/>
        </p:nvSpPr>
        <p:spPr>
          <a:xfrm>
            <a:off x="1005840" y="2805175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Update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28C6CAE-D52B-D3B2-CD73-7DF10C5FA3B7}"/>
              </a:ext>
            </a:extLst>
          </p:cNvPr>
          <p:cNvSpPr txBox="1"/>
          <p:nvPr/>
        </p:nvSpPr>
        <p:spPr>
          <a:xfrm>
            <a:off x="4846320" y="2805175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EditListing.jsx  +  PUT /api/listings/:id (ownership check)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DC90853-1B21-652B-86B8-25118FB18D7C}"/>
              </a:ext>
            </a:extLst>
          </p:cNvPr>
          <p:cNvSpPr/>
          <p:nvPr/>
        </p:nvSpPr>
        <p:spPr>
          <a:xfrm>
            <a:off x="365760" y="3134359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5383AB-FEB0-9D92-9C06-3C96FD647738}"/>
              </a:ext>
            </a:extLst>
          </p:cNvPr>
          <p:cNvSpPr txBox="1"/>
          <p:nvPr/>
        </p:nvSpPr>
        <p:spPr>
          <a:xfrm>
            <a:off x="420624" y="318922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[OK]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4DBA09-A9E9-0932-F75B-3FD6AFC106F1}"/>
              </a:ext>
            </a:extLst>
          </p:cNvPr>
          <p:cNvSpPr txBox="1"/>
          <p:nvPr/>
        </p:nvSpPr>
        <p:spPr>
          <a:xfrm>
            <a:off x="1005840" y="318922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</a:rPr>
              <a:t>Delete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D8715E-EFA6-D374-D4E1-70F995FCD908}"/>
              </a:ext>
            </a:extLst>
          </p:cNvPr>
          <p:cNvSpPr txBox="1"/>
          <p:nvPr/>
        </p:nvSpPr>
        <p:spPr>
          <a:xfrm>
            <a:off x="4846320" y="3189223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5566"/>
                </a:solidFill>
              </a:rPr>
              <a:t>EditListing delete btn  +  DELETE /api/listings/:id (soft delete)</a:t>
            </a:r>
          </a:p>
        </p:txBody>
      </p:sp>
    </p:spTree>
    <p:extLst>
      <p:ext uri="{BB962C8B-B14F-4D97-AF65-F5344CB8AC3E}">
        <p14:creationId xmlns:p14="http://schemas.microsoft.com/office/powerpoint/2010/main" val="4265437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45752" cy="3657600"/>
          </a:xfrm>
          <a:prstGeom prst="rect">
            <a:avLst/>
          </a:prstGeom>
          <a:solidFill>
            <a:srgbClr val="2B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473" y="1554480"/>
            <a:ext cx="94457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473" y="297180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97316"/>
                </a:solidFill>
              </a:rPr>
              <a:t>NeighborHub  -  IT Elective 2 / Task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473" y="347472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</a:rPr>
              <a:t>All April 18, 2026 Deliverables Successfully Implemented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6FC8E655-339C-4C30-8D9E-16A0B4B2E990}"/>
              </a:ext>
            </a:extLst>
          </p:cNvPr>
          <p:cNvSpPr txBox="1"/>
          <p:nvPr/>
        </p:nvSpPr>
        <p:spPr>
          <a:xfrm>
            <a:off x="2753980" y="3836124"/>
            <a:ext cx="6680483" cy="158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Earl Brian Baclohan</a:t>
            </a:r>
          </a:p>
          <a:p>
            <a:pPr algn="ctr">
              <a:lnSpc>
                <a:spcPts val="3242"/>
              </a:lnSpc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Justin Wayne G.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Miaga</a:t>
            </a:r>
            <a:endParaRPr lang="en-US" sz="14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3242"/>
              </a:lnSpc>
            </a:pPr>
            <a:r>
              <a:rPr lang="en-US" sz="1400" b="1" dirty="0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Knoxville Nur A. </a:t>
            </a:r>
            <a:r>
              <a:rPr lang="en-US" sz="1400" b="1" dirty="0" err="1">
                <a:solidFill>
                  <a:srgbClr val="FFFFFF"/>
                </a:solidFill>
                <a:latin typeface="+mj-lt"/>
                <a:ea typeface="Calibri (MS) Bold"/>
                <a:cs typeface="Calibri (MS) Bold"/>
                <a:sym typeface="Calibri (MS) Bold"/>
              </a:rPr>
              <a:t>Suazola</a:t>
            </a:r>
            <a:endParaRPr lang="en-US" sz="14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  <a:p>
            <a:pPr algn="ctr">
              <a:lnSpc>
                <a:spcPts val="3242"/>
              </a:lnSpc>
            </a:pPr>
            <a:endParaRPr lang="en-US" sz="1400" b="1" dirty="0">
              <a:solidFill>
                <a:srgbClr val="FFFFFF"/>
              </a:solidFill>
              <a:latin typeface="+mj-lt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7F0F66A6-2549-37EB-B505-A2947F0E4FAF}"/>
              </a:ext>
            </a:extLst>
          </p:cNvPr>
          <p:cNvSpPr txBox="1"/>
          <p:nvPr/>
        </p:nvSpPr>
        <p:spPr>
          <a:xfrm>
            <a:off x="2754107" y="5402064"/>
            <a:ext cx="6680483" cy="262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200" dirty="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Full Stack Application Project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1415</Words>
  <Application>Microsoft Office PowerPoint</Application>
  <PresentationFormat>Custom</PresentationFormat>
  <Paragraphs>251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Earl Brian Baclohan</cp:lastModifiedBy>
  <cp:revision>3</cp:revision>
  <dcterms:created xsi:type="dcterms:W3CDTF">2013-01-27T09:14:16Z</dcterms:created>
  <dcterms:modified xsi:type="dcterms:W3CDTF">2026-04-23T03:01:23Z</dcterms:modified>
  <cp:category/>
</cp:coreProperties>
</file>