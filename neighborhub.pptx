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Calibri (MS) Bold" charset="1" panose="020F0702030404030204"/>
      <p:regular r:id="rId16"/>
    </p:embeddedFont>
    <p:embeddedFont>
      <p:font typeface="Calibri (MS)" charset="1" panose="020F0502020204030204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10295039"/>
            <a:chOff x="0" y="0"/>
            <a:chExt cx="24396967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95039" y="0"/>
            <a:ext cx="8236039" cy="10295039"/>
            <a:chOff x="0" y="0"/>
            <a:chExt cx="10981385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81436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10981436">
                  <a:moveTo>
                    <a:pt x="0" y="0"/>
                  </a:moveTo>
                  <a:lnTo>
                    <a:pt x="10981436" y="0"/>
                  </a:lnTo>
                  <a:lnTo>
                    <a:pt x="10981436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256DC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334176" y="0"/>
            <a:ext cx="1647206" cy="10295039"/>
            <a:chOff x="0" y="0"/>
            <a:chExt cx="2196274" cy="1372671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6338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196338">
                  <a:moveTo>
                    <a:pt x="0" y="0"/>
                  </a:moveTo>
                  <a:lnTo>
                    <a:pt x="2196338" y="0"/>
                  </a:lnTo>
                  <a:lnTo>
                    <a:pt x="2196338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53A6E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754971" y="1509941"/>
            <a:ext cx="1372676" cy="1372676"/>
            <a:chOff x="0" y="0"/>
            <a:chExt cx="1830235" cy="183023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830197" cy="1830197"/>
            </a:xfrm>
            <a:custGeom>
              <a:avLst/>
              <a:gdLst/>
              <a:ahLst/>
              <a:cxnLst/>
              <a:rect r="r" b="b" t="t" l="l"/>
              <a:pathLst>
                <a:path h="1830197" w="1830197">
                  <a:moveTo>
                    <a:pt x="0" y="0"/>
                  </a:moveTo>
                  <a:lnTo>
                    <a:pt x="1830197" y="0"/>
                  </a:lnTo>
                  <a:lnTo>
                    <a:pt x="1830197" y="1830197"/>
                  </a:lnTo>
                  <a:lnTo>
                    <a:pt x="0" y="1830197"/>
                  </a:lnTo>
                  <a:close/>
                </a:path>
              </a:pathLst>
            </a:custGeom>
            <a:solidFill>
              <a:srgbClr val="256DCA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754971" y="1551107"/>
            <a:ext cx="1372676" cy="1061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20"/>
              </a:lnSpc>
            </a:pPr>
            <a:r>
              <a:rPr lang="en-US" b="true" sz="5514" spc="55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NH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424979" y="1431836"/>
            <a:ext cx="7366816" cy="1267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5"/>
              </a:lnSpc>
            </a:pPr>
            <a:r>
              <a:rPr lang="en-US" sz="6004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NeighborHub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424979" y="2793025"/>
            <a:ext cx="7366816" cy="1347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>
                <a:solidFill>
                  <a:srgbClr val="BFD7FF"/>
                </a:solidFill>
                <a:latin typeface="Calibri (MS)"/>
                <a:ea typeface="Calibri (MS)"/>
                <a:cs typeface="Calibri (MS)"/>
                <a:sym typeface="Calibri (MS)"/>
              </a:rPr>
              <a:t>Local Community Marketplace</a:t>
            </a:r>
          </a:p>
          <a:p>
            <a:pPr algn="l">
              <a:lnSpc>
                <a:spcPts val="3602"/>
              </a:lnSpc>
            </a:pPr>
            <a:r>
              <a:rPr lang="en-US" sz="3002">
                <a:solidFill>
                  <a:srgbClr val="BFD7FF"/>
                </a:solidFill>
                <a:latin typeface="Calibri (MS)"/>
                <a:ea typeface="Calibri (MS)"/>
                <a:cs typeface="Calibri (MS)"/>
                <a:sym typeface="Calibri (MS)"/>
              </a:rPr>
              <a:t>&amp; Service Platform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2333539" y="4529823"/>
            <a:ext cx="6177029" cy="54912"/>
            <a:chOff x="0" y="0"/>
            <a:chExt cx="8236039" cy="7321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236077" cy="73152"/>
            </a:xfrm>
            <a:custGeom>
              <a:avLst/>
              <a:gdLst/>
              <a:ahLst/>
              <a:cxnLst/>
              <a:rect r="r" b="b" t="t" l="l"/>
              <a:pathLst>
                <a:path h="73152" w="8236077">
                  <a:moveTo>
                    <a:pt x="0" y="0"/>
                  </a:moveTo>
                  <a:lnTo>
                    <a:pt x="8236077" y="0"/>
                  </a:lnTo>
                  <a:lnTo>
                    <a:pt x="8236077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F97316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2333539" y="4689510"/>
            <a:ext cx="6680483" cy="2466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Earl Brian Baclohan</a:t>
            </a:r>
          </a:p>
          <a:p>
            <a:pPr algn="l">
              <a:lnSpc>
                <a:spcPts val="2882"/>
              </a:lnSpc>
            </a:pPr>
          </a:p>
          <a:p>
            <a:pPr algn="l">
              <a:lnSpc>
                <a:spcPts val="3242"/>
              </a:lnSpc>
            </a:pPr>
            <a:r>
              <a:rPr lang="en-US" sz="2702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Justin Wayne G. Miaga</a:t>
            </a:r>
          </a:p>
          <a:p>
            <a:pPr algn="l">
              <a:lnSpc>
                <a:spcPts val="3242"/>
              </a:lnSpc>
            </a:pPr>
          </a:p>
          <a:p>
            <a:pPr algn="l">
              <a:lnSpc>
                <a:spcPts val="3242"/>
              </a:lnSpc>
            </a:pPr>
            <a:r>
              <a:rPr lang="en-US" sz="2702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Knoxville Nur A. Suazola</a:t>
            </a:r>
          </a:p>
          <a:p>
            <a:pPr algn="l">
              <a:lnSpc>
                <a:spcPts val="3242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2390670" y="6941191"/>
            <a:ext cx="6680483" cy="395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Full Stack Application Project •  2026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072822" y="3008452"/>
            <a:ext cx="6405944" cy="3397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A full-stack web application</a:t>
            </a:r>
          </a:p>
          <a:p>
            <a:pPr algn="ctr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where community members</a:t>
            </a:r>
          </a:p>
          <a:p>
            <a:pPr algn="ctr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buy, sell, and trade</a:t>
            </a:r>
          </a:p>
          <a:p>
            <a:pPr algn="ctr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items &amp; services.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1393176" y="6177029"/>
            <a:ext cx="5078892" cy="576520"/>
            <a:chOff x="0" y="0"/>
            <a:chExt cx="6771856" cy="76869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771894" cy="768731"/>
            </a:xfrm>
            <a:custGeom>
              <a:avLst/>
              <a:gdLst/>
              <a:ahLst/>
              <a:cxnLst/>
              <a:rect r="r" b="b" t="t" l="l"/>
              <a:pathLst>
                <a:path h="768731" w="6771894">
                  <a:moveTo>
                    <a:pt x="0" y="0"/>
                  </a:moveTo>
                  <a:lnTo>
                    <a:pt x="6771894" y="0"/>
                  </a:lnTo>
                  <a:lnTo>
                    <a:pt x="6771894" y="768731"/>
                  </a:lnTo>
                  <a:lnTo>
                    <a:pt x="0" y="768731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1553254" y="6253277"/>
            <a:ext cx="4758738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80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React 19 + Vite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1393176" y="6932000"/>
            <a:ext cx="5078892" cy="576520"/>
            <a:chOff x="0" y="0"/>
            <a:chExt cx="6771856" cy="76869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771894" cy="768731"/>
            </a:xfrm>
            <a:custGeom>
              <a:avLst/>
              <a:gdLst/>
              <a:ahLst/>
              <a:cxnLst/>
              <a:rect r="r" b="b" t="t" l="l"/>
              <a:pathLst>
                <a:path h="768731" w="6771894">
                  <a:moveTo>
                    <a:pt x="0" y="0"/>
                  </a:moveTo>
                  <a:lnTo>
                    <a:pt x="6771894" y="0"/>
                  </a:lnTo>
                  <a:lnTo>
                    <a:pt x="6771894" y="768731"/>
                  </a:lnTo>
                  <a:lnTo>
                    <a:pt x="0" y="768731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1553254" y="7008247"/>
            <a:ext cx="4758738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80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Node.js / Express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1393176" y="7686961"/>
            <a:ext cx="5078892" cy="576520"/>
            <a:chOff x="0" y="0"/>
            <a:chExt cx="6771856" cy="76869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771894" cy="768731"/>
            </a:xfrm>
            <a:custGeom>
              <a:avLst/>
              <a:gdLst/>
              <a:ahLst/>
              <a:cxnLst/>
              <a:rect r="r" b="b" t="t" l="l"/>
              <a:pathLst>
                <a:path h="768731" w="6771894">
                  <a:moveTo>
                    <a:pt x="0" y="0"/>
                  </a:moveTo>
                  <a:lnTo>
                    <a:pt x="6771894" y="0"/>
                  </a:lnTo>
                  <a:lnTo>
                    <a:pt x="6771894" y="768731"/>
                  </a:lnTo>
                  <a:lnTo>
                    <a:pt x="0" y="768731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1553254" y="7763218"/>
            <a:ext cx="4758738" cy="385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80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MySQL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10295039"/>
            <a:chOff x="0" y="0"/>
            <a:chExt cx="24396967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97725" cy="1921745"/>
            <a:chOff x="0" y="0"/>
            <a:chExt cx="24396967" cy="256232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96954" cy="2562352"/>
            </a:xfrm>
            <a:custGeom>
              <a:avLst/>
              <a:gdLst/>
              <a:ahLst/>
              <a:cxnLst/>
              <a:rect r="r" b="b" t="t" l="l"/>
              <a:pathLst>
                <a:path h="2562352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2562352"/>
                  </a:lnTo>
                  <a:lnTo>
                    <a:pt x="0" y="2562352"/>
                  </a:lnTo>
                  <a:close/>
                </a:path>
              </a:pathLst>
            </a:custGeom>
            <a:solidFill>
              <a:srgbClr val="256DCA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640509" y="234534"/>
            <a:ext cx="16975522" cy="955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64"/>
              </a:lnSpc>
            </a:pPr>
            <a:r>
              <a:rPr lang="en-US" sz="4803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Project Title &amp; Scope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40509" y="1164869"/>
            <a:ext cx="16975522" cy="505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BFD7FF"/>
                </a:solidFill>
                <a:latin typeface="Calibri (MS)"/>
                <a:ea typeface="Calibri (MS)"/>
                <a:cs typeface="Calibri (MS)"/>
                <a:sym typeface="Calibri (MS)"/>
              </a:rPr>
              <a:t>What NeighborHub is and who it's for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530000" y="2177215"/>
            <a:ext cx="7999628" cy="2920746"/>
            <a:chOff x="0" y="0"/>
            <a:chExt cx="10666171" cy="389432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25400" y="25400"/>
              <a:ext cx="10615295" cy="3843528"/>
            </a:xfrm>
            <a:custGeom>
              <a:avLst/>
              <a:gdLst/>
              <a:ahLst/>
              <a:cxnLst/>
              <a:rect r="r" b="b" t="t" l="l"/>
              <a:pathLst>
                <a:path h="3843528" w="10615295">
                  <a:moveTo>
                    <a:pt x="0" y="0"/>
                  </a:moveTo>
                  <a:lnTo>
                    <a:pt x="10615295" y="0"/>
                  </a:lnTo>
                  <a:lnTo>
                    <a:pt x="10615295" y="3843528"/>
                  </a:lnTo>
                  <a:lnTo>
                    <a:pt x="0" y="3843528"/>
                  </a:lnTo>
                  <a:close/>
                </a:path>
              </a:pathLst>
            </a:custGeom>
            <a:solidFill>
              <a:srgbClr val="1E2D40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666095" cy="3894328"/>
            </a:xfrm>
            <a:custGeom>
              <a:avLst/>
              <a:gdLst/>
              <a:ahLst/>
              <a:cxnLst/>
              <a:rect r="r" b="b" t="t" l="l"/>
              <a:pathLst>
                <a:path h="3894328" w="10666095">
                  <a:moveTo>
                    <a:pt x="25400" y="0"/>
                  </a:moveTo>
                  <a:lnTo>
                    <a:pt x="10640695" y="0"/>
                  </a:lnTo>
                  <a:cubicBezTo>
                    <a:pt x="10654792" y="0"/>
                    <a:pt x="10666095" y="11430"/>
                    <a:pt x="10666095" y="25400"/>
                  </a:cubicBezTo>
                  <a:lnTo>
                    <a:pt x="10666095" y="3868928"/>
                  </a:lnTo>
                  <a:cubicBezTo>
                    <a:pt x="10666095" y="3883025"/>
                    <a:pt x="10654664" y="3894328"/>
                    <a:pt x="10640695" y="3894328"/>
                  </a:cubicBezTo>
                  <a:lnTo>
                    <a:pt x="25400" y="3894328"/>
                  </a:lnTo>
                  <a:cubicBezTo>
                    <a:pt x="11303" y="3894328"/>
                    <a:pt x="0" y="3882898"/>
                    <a:pt x="0" y="3868928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3868928"/>
                  </a:lnTo>
                  <a:lnTo>
                    <a:pt x="25400" y="3868928"/>
                  </a:lnTo>
                  <a:lnTo>
                    <a:pt x="25400" y="3843528"/>
                  </a:lnTo>
                  <a:lnTo>
                    <a:pt x="10640695" y="3843528"/>
                  </a:lnTo>
                  <a:lnTo>
                    <a:pt x="10640695" y="3868928"/>
                  </a:lnTo>
                  <a:lnTo>
                    <a:pt x="10615295" y="3868928"/>
                  </a:lnTo>
                  <a:lnTo>
                    <a:pt x="10615295" y="25400"/>
                  </a:lnTo>
                  <a:lnTo>
                    <a:pt x="10640695" y="25400"/>
                  </a:lnTo>
                  <a:lnTo>
                    <a:pt x="10640695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256DCA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915048" y="2371696"/>
            <a:ext cx="7229551" cy="945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903" b="true">
                <a:solidFill>
                  <a:srgbClr val="256DC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NeighborHub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5048" y="3282982"/>
            <a:ext cx="7229551" cy="1201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Local Community Marketplace</a:t>
            </a:r>
          </a:p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&amp; Service Platform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40509" y="5341991"/>
            <a:ext cx="7778620" cy="514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F9731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Core Features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40509" y="5988272"/>
            <a:ext cx="3797875" cy="458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✓  Browse &amp; search listings by category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40509" y="6564792"/>
            <a:ext cx="3797875" cy="458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✓  Post products and services for sale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40509" y="7141312"/>
            <a:ext cx="3797875" cy="458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✓  Real-time messaging between users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483989" y="5988272"/>
            <a:ext cx="3797875" cy="458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✓  Order management (buy/sell tracking)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483989" y="6564792"/>
            <a:ext cx="3797875" cy="458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✓  Reviews &amp; ratings system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483989" y="7141312"/>
            <a:ext cx="3797875" cy="458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✓  Admin dashboard for moderation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177842" y="2177215"/>
            <a:ext cx="8548697" cy="2920746"/>
            <a:chOff x="0" y="0"/>
            <a:chExt cx="11398263" cy="389432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25400" y="25400"/>
              <a:ext cx="11347450" cy="3843528"/>
            </a:xfrm>
            <a:custGeom>
              <a:avLst/>
              <a:gdLst/>
              <a:ahLst/>
              <a:cxnLst/>
              <a:rect r="r" b="b" t="t" l="l"/>
              <a:pathLst>
                <a:path h="3843528" w="11347450">
                  <a:moveTo>
                    <a:pt x="0" y="0"/>
                  </a:moveTo>
                  <a:lnTo>
                    <a:pt x="11347450" y="0"/>
                  </a:lnTo>
                  <a:lnTo>
                    <a:pt x="11347450" y="3843528"/>
                  </a:lnTo>
                  <a:lnTo>
                    <a:pt x="0" y="3843528"/>
                  </a:lnTo>
                  <a:close/>
                </a:path>
              </a:pathLst>
            </a:custGeom>
            <a:solidFill>
              <a:srgbClr val="1E2D40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398250" cy="3894328"/>
            </a:xfrm>
            <a:custGeom>
              <a:avLst/>
              <a:gdLst/>
              <a:ahLst/>
              <a:cxnLst/>
              <a:rect r="r" b="b" t="t" l="l"/>
              <a:pathLst>
                <a:path h="3894328" w="11398250">
                  <a:moveTo>
                    <a:pt x="25400" y="0"/>
                  </a:moveTo>
                  <a:lnTo>
                    <a:pt x="11372850" y="0"/>
                  </a:lnTo>
                  <a:cubicBezTo>
                    <a:pt x="11386947" y="0"/>
                    <a:pt x="11398250" y="11430"/>
                    <a:pt x="11398250" y="25400"/>
                  </a:cubicBezTo>
                  <a:lnTo>
                    <a:pt x="11398250" y="3868928"/>
                  </a:lnTo>
                  <a:cubicBezTo>
                    <a:pt x="11398250" y="3883025"/>
                    <a:pt x="11386820" y="3894328"/>
                    <a:pt x="11372850" y="3894328"/>
                  </a:cubicBezTo>
                  <a:lnTo>
                    <a:pt x="25400" y="3894328"/>
                  </a:lnTo>
                  <a:cubicBezTo>
                    <a:pt x="11303" y="3894328"/>
                    <a:pt x="0" y="3882898"/>
                    <a:pt x="0" y="3868928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3868928"/>
                  </a:lnTo>
                  <a:lnTo>
                    <a:pt x="25400" y="3868928"/>
                  </a:lnTo>
                  <a:lnTo>
                    <a:pt x="25400" y="3843528"/>
                  </a:lnTo>
                  <a:lnTo>
                    <a:pt x="11372850" y="3843528"/>
                  </a:lnTo>
                  <a:lnTo>
                    <a:pt x="11372850" y="3868928"/>
                  </a:lnTo>
                  <a:lnTo>
                    <a:pt x="11347450" y="3868928"/>
                  </a:lnTo>
                  <a:lnTo>
                    <a:pt x="11347450" y="25400"/>
                  </a:lnTo>
                  <a:lnTo>
                    <a:pt x="11372850" y="25400"/>
                  </a:lnTo>
                  <a:lnTo>
                    <a:pt x="1137285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F97316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9562881" y="2390746"/>
            <a:ext cx="7778620" cy="583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F9731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Target Users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562881" y="3027502"/>
            <a:ext cx="7778620" cy="495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→  Community buyers looking for local deals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562881" y="3631473"/>
            <a:ext cx="7778620" cy="495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→  Sellers listing items or offering services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562881" y="4235453"/>
            <a:ext cx="7778620" cy="495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→  Admins managing platform safety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288342" y="5341991"/>
            <a:ext cx="8327688" cy="514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64748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Limitations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288342" y="5988272"/>
            <a:ext cx="8327688" cy="458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✗  No real payment gateway (cash on meetup)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288342" y="6564792"/>
            <a:ext cx="8327688" cy="458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✗  No mobile app — web only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288342" y="7141312"/>
            <a:ext cx="8327688" cy="458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✗  No live chat (polling-based messaging)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10295039"/>
            <a:chOff x="0" y="0"/>
            <a:chExt cx="24396967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97725" cy="1921745"/>
            <a:chOff x="0" y="0"/>
            <a:chExt cx="24396967" cy="256232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96954" cy="2562352"/>
            </a:xfrm>
            <a:custGeom>
              <a:avLst/>
              <a:gdLst/>
              <a:ahLst/>
              <a:cxnLst/>
              <a:rect r="r" b="b" t="t" l="l"/>
              <a:pathLst>
                <a:path h="2562352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2562352"/>
                  </a:lnTo>
                  <a:lnTo>
                    <a:pt x="0" y="2562352"/>
                  </a:lnTo>
                  <a:close/>
                </a:path>
              </a:pathLst>
            </a:custGeom>
            <a:solidFill>
              <a:srgbClr val="256DCA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640509" y="234534"/>
            <a:ext cx="16975522" cy="955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64"/>
              </a:lnSpc>
            </a:pPr>
            <a:r>
              <a:rPr lang="en-US" sz="4803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System Flow Diagram  —  Flowchart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40509" y="1164869"/>
            <a:ext cx="16975522" cy="505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BFD7FF"/>
                </a:solidFill>
                <a:latin typeface="Calibri (MS)"/>
                <a:ea typeface="Calibri (MS)"/>
                <a:cs typeface="Calibri (MS)"/>
                <a:sym typeface="Calibri (MS)"/>
              </a:rPr>
              <a:t>How users interact with NeighborHub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109273" y="2560787"/>
            <a:ext cx="1876130" cy="358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b="true" sz="1501">
                <a:solidFill>
                  <a:srgbClr val="CBD5E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GUEST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056961" y="3033608"/>
            <a:ext cx="3843480" cy="713794"/>
            <a:chOff x="0" y="0"/>
            <a:chExt cx="5124640" cy="95172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124704" cy="951738"/>
            </a:xfrm>
            <a:custGeom>
              <a:avLst/>
              <a:gdLst/>
              <a:ahLst/>
              <a:cxnLst/>
              <a:rect r="r" b="b" t="t" l="l"/>
              <a:pathLst>
                <a:path h="951738" w="5124704">
                  <a:moveTo>
                    <a:pt x="0" y="0"/>
                  </a:moveTo>
                  <a:lnTo>
                    <a:pt x="5124704" y="0"/>
                  </a:lnTo>
                  <a:lnTo>
                    <a:pt x="5124704" y="951738"/>
                  </a:lnTo>
                  <a:lnTo>
                    <a:pt x="0" y="951738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056961" y="3115970"/>
            <a:ext cx="3843480" cy="603980"/>
            <a:chOff x="0" y="0"/>
            <a:chExt cx="5124640" cy="80530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124704" cy="805307"/>
            </a:xfrm>
            <a:custGeom>
              <a:avLst/>
              <a:gdLst/>
              <a:ahLst/>
              <a:cxnLst/>
              <a:rect r="r" b="b" t="t" l="l"/>
              <a:pathLst>
                <a:path h="805307" w="5124704">
                  <a:moveTo>
                    <a:pt x="0" y="0"/>
                  </a:moveTo>
                  <a:lnTo>
                    <a:pt x="5124704" y="0"/>
                  </a:lnTo>
                  <a:lnTo>
                    <a:pt x="5124704" y="805307"/>
                  </a:lnTo>
                  <a:lnTo>
                    <a:pt x="0" y="805307"/>
                  </a:lnTo>
                  <a:close/>
                </a:path>
              </a:pathLst>
            </a:custGeom>
            <a:solidFill>
              <a:srgbClr val="1F497D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5124640" cy="833882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ctr">
                <a:lnSpc>
                  <a:spcPts val="1981"/>
                </a:lnSpc>
              </a:pPr>
              <a:r>
                <a:rPr lang="en-US" sz="1651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Visit NeighborHub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937520" y="3747392"/>
            <a:ext cx="96088" cy="370618"/>
            <a:chOff x="0" y="0"/>
            <a:chExt cx="128118" cy="49415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8143" cy="494157"/>
            </a:xfrm>
            <a:custGeom>
              <a:avLst/>
              <a:gdLst/>
              <a:ahLst/>
              <a:cxnLst/>
              <a:rect r="r" b="b" t="t" l="l"/>
              <a:pathLst>
                <a:path h="494157" w="128143">
                  <a:moveTo>
                    <a:pt x="0" y="0"/>
                  </a:moveTo>
                  <a:lnTo>
                    <a:pt x="128143" y="0"/>
                  </a:lnTo>
                  <a:lnTo>
                    <a:pt x="128143" y="494157"/>
                  </a:lnTo>
                  <a:lnTo>
                    <a:pt x="0" y="494157"/>
                  </a:lnTo>
                  <a:close/>
                </a:path>
              </a:pathLst>
            </a:custGeom>
            <a:solidFill>
              <a:srgbClr val="64748B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056961" y="4049382"/>
            <a:ext cx="3843480" cy="713794"/>
            <a:chOff x="0" y="0"/>
            <a:chExt cx="5124640" cy="95172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124704" cy="951738"/>
            </a:xfrm>
            <a:custGeom>
              <a:avLst/>
              <a:gdLst/>
              <a:ahLst/>
              <a:cxnLst/>
              <a:rect r="r" b="b" t="t" l="l"/>
              <a:pathLst>
                <a:path h="951738" w="5124704">
                  <a:moveTo>
                    <a:pt x="0" y="0"/>
                  </a:moveTo>
                  <a:lnTo>
                    <a:pt x="5124704" y="0"/>
                  </a:lnTo>
                  <a:lnTo>
                    <a:pt x="5124704" y="951738"/>
                  </a:lnTo>
                  <a:lnTo>
                    <a:pt x="0" y="951738"/>
                  </a:lnTo>
                  <a:close/>
                </a:path>
              </a:pathLst>
            </a:custGeom>
            <a:solidFill>
              <a:srgbClr val="256DCA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148401" y="4148890"/>
            <a:ext cx="3660600" cy="541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1"/>
              </a:lnSpc>
            </a:pPr>
            <a:r>
              <a:rPr lang="en-US" sz="165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Browse Listings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2937520" y="4763176"/>
            <a:ext cx="96088" cy="370618"/>
            <a:chOff x="0" y="0"/>
            <a:chExt cx="128118" cy="49415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8143" cy="494157"/>
            </a:xfrm>
            <a:custGeom>
              <a:avLst/>
              <a:gdLst/>
              <a:ahLst/>
              <a:cxnLst/>
              <a:rect r="r" b="b" t="t" l="l"/>
              <a:pathLst>
                <a:path h="494157" w="128143">
                  <a:moveTo>
                    <a:pt x="0" y="0"/>
                  </a:moveTo>
                  <a:lnTo>
                    <a:pt x="128143" y="0"/>
                  </a:lnTo>
                  <a:lnTo>
                    <a:pt x="128143" y="494157"/>
                  </a:lnTo>
                  <a:lnTo>
                    <a:pt x="0" y="494157"/>
                  </a:lnTo>
                  <a:close/>
                </a:path>
              </a:pathLst>
            </a:custGeom>
            <a:solidFill>
              <a:srgbClr val="64748B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056961" y="5065157"/>
            <a:ext cx="3843480" cy="713794"/>
            <a:chOff x="0" y="0"/>
            <a:chExt cx="5124640" cy="95172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124704" cy="951738"/>
            </a:xfrm>
            <a:custGeom>
              <a:avLst/>
              <a:gdLst/>
              <a:ahLst/>
              <a:cxnLst/>
              <a:rect r="r" b="b" t="t" l="l"/>
              <a:pathLst>
                <a:path h="951738" w="5124704">
                  <a:moveTo>
                    <a:pt x="0" y="0"/>
                  </a:moveTo>
                  <a:lnTo>
                    <a:pt x="5124704" y="0"/>
                  </a:lnTo>
                  <a:lnTo>
                    <a:pt x="5124704" y="951738"/>
                  </a:lnTo>
                  <a:lnTo>
                    <a:pt x="0" y="951738"/>
                  </a:lnTo>
                  <a:close/>
                </a:path>
              </a:pathLst>
            </a:custGeom>
            <a:solidFill>
              <a:srgbClr val="256DCA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148401" y="5164665"/>
            <a:ext cx="3660600" cy="541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1"/>
              </a:lnSpc>
            </a:pPr>
            <a:r>
              <a:rPr lang="en-US" sz="165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Search / Filter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2937520" y="5778951"/>
            <a:ext cx="96088" cy="370618"/>
            <a:chOff x="0" y="0"/>
            <a:chExt cx="128118" cy="49415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28143" cy="494157"/>
            </a:xfrm>
            <a:custGeom>
              <a:avLst/>
              <a:gdLst/>
              <a:ahLst/>
              <a:cxnLst/>
              <a:rect r="r" b="b" t="t" l="l"/>
              <a:pathLst>
                <a:path h="494157" w="128143">
                  <a:moveTo>
                    <a:pt x="0" y="0"/>
                  </a:moveTo>
                  <a:lnTo>
                    <a:pt x="128143" y="0"/>
                  </a:lnTo>
                  <a:lnTo>
                    <a:pt x="128143" y="494157"/>
                  </a:lnTo>
                  <a:lnTo>
                    <a:pt x="0" y="494157"/>
                  </a:lnTo>
                  <a:close/>
                </a:path>
              </a:pathLst>
            </a:custGeom>
            <a:solidFill>
              <a:srgbClr val="64748B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056961" y="6080941"/>
            <a:ext cx="3843480" cy="713794"/>
            <a:chOff x="0" y="0"/>
            <a:chExt cx="5124640" cy="95172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124704" cy="951738"/>
            </a:xfrm>
            <a:custGeom>
              <a:avLst/>
              <a:gdLst/>
              <a:ahLst/>
              <a:cxnLst/>
              <a:rect r="r" b="b" t="t" l="l"/>
              <a:pathLst>
                <a:path h="951738" w="5124704">
                  <a:moveTo>
                    <a:pt x="0" y="0"/>
                  </a:moveTo>
                  <a:lnTo>
                    <a:pt x="5124704" y="0"/>
                  </a:lnTo>
                  <a:lnTo>
                    <a:pt x="5124704" y="951738"/>
                  </a:lnTo>
                  <a:lnTo>
                    <a:pt x="0" y="951738"/>
                  </a:lnTo>
                  <a:close/>
                </a:path>
              </a:pathLst>
            </a:custGeom>
            <a:solidFill>
              <a:srgbClr val="256DCA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148401" y="6180449"/>
            <a:ext cx="3660600" cy="541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1"/>
              </a:lnSpc>
            </a:pPr>
            <a:r>
              <a:rPr lang="en-US" sz="165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View Listing Detail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2937520" y="6794725"/>
            <a:ext cx="96088" cy="370618"/>
            <a:chOff x="0" y="0"/>
            <a:chExt cx="128118" cy="494157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28143" cy="494157"/>
            </a:xfrm>
            <a:custGeom>
              <a:avLst/>
              <a:gdLst/>
              <a:ahLst/>
              <a:cxnLst/>
              <a:rect r="r" b="b" t="t" l="l"/>
              <a:pathLst>
                <a:path h="494157" w="128143">
                  <a:moveTo>
                    <a:pt x="0" y="0"/>
                  </a:moveTo>
                  <a:lnTo>
                    <a:pt x="128143" y="0"/>
                  </a:lnTo>
                  <a:lnTo>
                    <a:pt x="128143" y="494157"/>
                  </a:lnTo>
                  <a:lnTo>
                    <a:pt x="0" y="494157"/>
                  </a:lnTo>
                  <a:close/>
                </a:path>
              </a:pathLst>
            </a:custGeom>
            <a:solidFill>
              <a:srgbClr val="64748B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056961" y="7096716"/>
            <a:ext cx="3843480" cy="713794"/>
            <a:chOff x="0" y="0"/>
            <a:chExt cx="5124640" cy="951725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124704" cy="951738"/>
            </a:xfrm>
            <a:custGeom>
              <a:avLst/>
              <a:gdLst/>
              <a:ahLst/>
              <a:cxnLst/>
              <a:rect r="r" b="b" t="t" l="l"/>
              <a:pathLst>
                <a:path h="951738" w="5124704">
                  <a:moveTo>
                    <a:pt x="0" y="0"/>
                  </a:moveTo>
                  <a:lnTo>
                    <a:pt x="5124704" y="0"/>
                  </a:lnTo>
                  <a:lnTo>
                    <a:pt x="5124704" y="951738"/>
                  </a:lnTo>
                  <a:lnTo>
                    <a:pt x="0" y="951738"/>
                  </a:lnTo>
                  <a:close/>
                </a:path>
              </a:pathLst>
            </a:custGeom>
            <a:solidFill>
              <a:srgbClr val="F97316"/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1148401" y="7196223"/>
            <a:ext cx="3660600" cy="541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1"/>
              </a:lnSpc>
            </a:pPr>
            <a:r>
              <a:rPr lang="en-US" sz="165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Register / Log In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8149028" y="2560787"/>
            <a:ext cx="1876130" cy="358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 b="true">
                <a:solidFill>
                  <a:srgbClr val="06B6D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BUYER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7096716" y="3033608"/>
            <a:ext cx="3843480" cy="713794"/>
            <a:chOff x="0" y="0"/>
            <a:chExt cx="5124640" cy="951725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124704" cy="951738"/>
            </a:xfrm>
            <a:custGeom>
              <a:avLst/>
              <a:gdLst/>
              <a:ahLst/>
              <a:cxnLst/>
              <a:rect r="r" b="b" t="t" l="l"/>
              <a:pathLst>
                <a:path h="951738" w="5124704">
                  <a:moveTo>
                    <a:pt x="0" y="0"/>
                  </a:moveTo>
                  <a:lnTo>
                    <a:pt x="5124704" y="0"/>
                  </a:lnTo>
                  <a:lnTo>
                    <a:pt x="5124704" y="951738"/>
                  </a:lnTo>
                  <a:lnTo>
                    <a:pt x="0" y="951738"/>
                  </a:lnTo>
                  <a:close/>
                </a:path>
              </a:pathLst>
            </a:custGeom>
            <a:solidFill>
              <a:srgbClr val="06B6D4"/>
            </a:solid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7188156" y="3133115"/>
            <a:ext cx="3660600" cy="541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1"/>
              </a:lnSpc>
            </a:pPr>
            <a:r>
              <a:rPr lang="en-US" sz="165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Logged In — Dashboard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8977274" y="3747392"/>
            <a:ext cx="96088" cy="370618"/>
            <a:chOff x="0" y="0"/>
            <a:chExt cx="128118" cy="494157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28143" cy="494157"/>
            </a:xfrm>
            <a:custGeom>
              <a:avLst/>
              <a:gdLst/>
              <a:ahLst/>
              <a:cxnLst/>
              <a:rect r="r" b="b" t="t" l="l"/>
              <a:pathLst>
                <a:path h="494157" w="128143">
                  <a:moveTo>
                    <a:pt x="0" y="0"/>
                  </a:moveTo>
                  <a:lnTo>
                    <a:pt x="128143" y="0"/>
                  </a:lnTo>
                  <a:lnTo>
                    <a:pt x="128143" y="494157"/>
                  </a:lnTo>
                  <a:lnTo>
                    <a:pt x="0" y="494157"/>
                  </a:lnTo>
                  <a:close/>
                </a:path>
              </a:pathLst>
            </a:custGeom>
            <a:solidFill>
              <a:srgbClr val="64748B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7096716" y="4049382"/>
            <a:ext cx="3843480" cy="713794"/>
            <a:chOff x="0" y="0"/>
            <a:chExt cx="5124640" cy="951725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124704" cy="951738"/>
            </a:xfrm>
            <a:custGeom>
              <a:avLst/>
              <a:gdLst/>
              <a:ahLst/>
              <a:cxnLst/>
              <a:rect r="r" b="b" t="t" l="l"/>
              <a:pathLst>
                <a:path h="951738" w="5124704">
                  <a:moveTo>
                    <a:pt x="0" y="0"/>
                  </a:moveTo>
                  <a:lnTo>
                    <a:pt x="5124704" y="0"/>
                  </a:lnTo>
                  <a:lnTo>
                    <a:pt x="5124704" y="951738"/>
                  </a:lnTo>
                  <a:lnTo>
                    <a:pt x="0" y="951738"/>
                  </a:lnTo>
                  <a:close/>
                </a:path>
              </a:pathLst>
            </a:custGeom>
            <a:solidFill>
              <a:srgbClr val="256DCA"/>
            </a:solidFill>
          </p:spPr>
        </p:sp>
      </p:grpSp>
      <p:sp>
        <p:nvSpPr>
          <p:cNvPr name="TextBox 42" id="42"/>
          <p:cNvSpPr txBox="true"/>
          <p:nvPr/>
        </p:nvSpPr>
        <p:spPr>
          <a:xfrm rot="0">
            <a:off x="7188156" y="4148890"/>
            <a:ext cx="3660600" cy="541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1"/>
              </a:lnSpc>
            </a:pPr>
            <a:r>
              <a:rPr lang="en-US" sz="165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Browse &amp; Save Listing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8977274" y="4763176"/>
            <a:ext cx="96088" cy="370618"/>
            <a:chOff x="0" y="0"/>
            <a:chExt cx="128118" cy="494157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28143" cy="494157"/>
            </a:xfrm>
            <a:custGeom>
              <a:avLst/>
              <a:gdLst/>
              <a:ahLst/>
              <a:cxnLst/>
              <a:rect r="r" b="b" t="t" l="l"/>
              <a:pathLst>
                <a:path h="494157" w="128143">
                  <a:moveTo>
                    <a:pt x="0" y="0"/>
                  </a:moveTo>
                  <a:lnTo>
                    <a:pt x="128143" y="0"/>
                  </a:lnTo>
                  <a:lnTo>
                    <a:pt x="128143" y="494157"/>
                  </a:lnTo>
                  <a:lnTo>
                    <a:pt x="0" y="494157"/>
                  </a:lnTo>
                  <a:close/>
                </a:path>
              </a:pathLst>
            </a:custGeom>
            <a:solidFill>
              <a:srgbClr val="64748B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7096716" y="5065157"/>
            <a:ext cx="3843480" cy="713794"/>
            <a:chOff x="0" y="0"/>
            <a:chExt cx="5124640" cy="951725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124704" cy="951738"/>
            </a:xfrm>
            <a:custGeom>
              <a:avLst/>
              <a:gdLst/>
              <a:ahLst/>
              <a:cxnLst/>
              <a:rect r="r" b="b" t="t" l="l"/>
              <a:pathLst>
                <a:path h="951738" w="5124704">
                  <a:moveTo>
                    <a:pt x="0" y="0"/>
                  </a:moveTo>
                  <a:lnTo>
                    <a:pt x="5124704" y="0"/>
                  </a:lnTo>
                  <a:lnTo>
                    <a:pt x="5124704" y="951738"/>
                  </a:lnTo>
                  <a:lnTo>
                    <a:pt x="0" y="951738"/>
                  </a:lnTo>
                  <a:close/>
                </a:path>
              </a:pathLst>
            </a:custGeom>
            <a:solidFill>
              <a:srgbClr val="256DCA"/>
            </a:solidFill>
          </p:spPr>
        </p:sp>
      </p:grpSp>
      <p:sp>
        <p:nvSpPr>
          <p:cNvPr name="TextBox 47" id="47"/>
          <p:cNvSpPr txBox="true"/>
          <p:nvPr/>
        </p:nvSpPr>
        <p:spPr>
          <a:xfrm rot="0">
            <a:off x="7188156" y="5164665"/>
            <a:ext cx="3660600" cy="541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1"/>
              </a:lnSpc>
            </a:pPr>
            <a:r>
              <a:rPr lang="en-US" sz="165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Message Seller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8977274" y="5778951"/>
            <a:ext cx="96088" cy="370618"/>
            <a:chOff x="0" y="0"/>
            <a:chExt cx="128118" cy="494157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28143" cy="494157"/>
            </a:xfrm>
            <a:custGeom>
              <a:avLst/>
              <a:gdLst/>
              <a:ahLst/>
              <a:cxnLst/>
              <a:rect r="r" b="b" t="t" l="l"/>
              <a:pathLst>
                <a:path h="494157" w="128143">
                  <a:moveTo>
                    <a:pt x="0" y="0"/>
                  </a:moveTo>
                  <a:lnTo>
                    <a:pt x="128143" y="0"/>
                  </a:lnTo>
                  <a:lnTo>
                    <a:pt x="128143" y="494157"/>
                  </a:lnTo>
                  <a:lnTo>
                    <a:pt x="0" y="494157"/>
                  </a:lnTo>
                  <a:close/>
                </a:path>
              </a:pathLst>
            </a:custGeom>
            <a:solidFill>
              <a:srgbClr val="64748B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7096716" y="6080941"/>
            <a:ext cx="3843480" cy="713794"/>
            <a:chOff x="0" y="0"/>
            <a:chExt cx="5124640" cy="951725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124704" cy="951738"/>
            </a:xfrm>
            <a:custGeom>
              <a:avLst/>
              <a:gdLst/>
              <a:ahLst/>
              <a:cxnLst/>
              <a:rect r="r" b="b" t="t" l="l"/>
              <a:pathLst>
                <a:path h="951738" w="5124704">
                  <a:moveTo>
                    <a:pt x="0" y="0"/>
                  </a:moveTo>
                  <a:lnTo>
                    <a:pt x="5124704" y="0"/>
                  </a:lnTo>
                  <a:lnTo>
                    <a:pt x="5124704" y="951738"/>
                  </a:lnTo>
                  <a:lnTo>
                    <a:pt x="0" y="951738"/>
                  </a:lnTo>
                  <a:close/>
                </a:path>
              </a:pathLst>
            </a:custGeom>
            <a:solidFill>
              <a:srgbClr val="F97316"/>
            </a:solidFill>
          </p:spPr>
        </p:sp>
      </p:grpSp>
      <p:sp>
        <p:nvSpPr>
          <p:cNvPr name="TextBox 52" id="52"/>
          <p:cNvSpPr txBox="true"/>
          <p:nvPr/>
        </p:nvSpPr>
        <p:spPr>
          <a:xfrm rot="0">
            <a:off x="7188156" y="6180449"/>
            <a:ext cx="3660600" cy="541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1"/>
              </a:lnSpc>
            </a:pPr>
            <a:r>
              <a:rPr lang="en-US" sz="165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Place Order</a:t>
            </a:r>
          </a:p>
        </p:txBody>
      </p:sp>
      <p:grpSp>
        <p:nvGrpSpPr>
          <p:cNvPr name="Group 53" id="53"/>
          <p:cNvGrpSpPr/>
          <p:nvPr/>
        </p:nvGrpSpPr>
        <p:grpSpPr>
          <a:xfrm rot="0">
            <a:off x="8977274" y="6794725"/>
            <a:ext cx="96088" cy="370618"/>
            <a:chOff x="0" y="0"/>
            <a:chExt cx="128118" cy="494157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28143" cy="494157"/>
            </a:xfrm>
            <a:custGeom>
              <a:avLst/>
              <a:gdLst/>
              <a:ahLst/>
              <a:cxnLst/>
              <a:rect r="r" b="b" t="t" l="l"/>
              <a:pathLst>
                <a:path h="494157" w="128143">
                  <a:moveTo>
                    <a:pt x="0" y="0"/>
                  </a:moveTo>
                  <a:lnTo>
                    <a:pt x="128143" y="0"/>
                  </a:lnTo>
                  <a:lnTo>
                    <a:pt x="128143" y="494157"/>
                  </a:lnTo>
                  <a:lnTo>
                    <a:pt x="0" y="494157"/>
                  </a:lnTo>
                  <a:close/>
                </a:path>
              </a:pathLst>
            </a:custGeom>
            <a:solidFill>
              <a:srgbClr val="64748B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7096716" y="7096716"/>
            <a:ext cx="3843480" cy="713794"/>
            <a:chOff x="0" y="0"/>
            <a:chExt cx="5124640" cy="951725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5124704" cy="951738"/>
            </a:xfrm>
            <a:custGeom>
              <a:avLst/>
              <a:gdLst/>
              <a:ahLst/>
              <a:cxnLst/>
              <a:rect r="r" b="b" t="t" l="l"/>
              <a:pathLst>
                <a:path h="951738" w="5124704">
                  <a:moveTo>
                    <a:pt x="0" y="0"/>
                  </a:moveTo>
                  <a:lnTo>
                    <a:pt x="5124704" y="0"/>
                  </a:lnTo>
                  <a:lnTo>
                    <a:pt x="5124704" y="951738"/>
                  </a:lnTo>
                  <a:lnTo>
                    <a:pt x="0" y="951738"/>
                  </a:lnTo>
                  <a:close/>
                </a:path>
              </a:pathLst>
            </a:custGeom>
            <a:solidFill>
              <a:srgbClr val="16A34A"/>
            </a:solidFill>
          </p:spPr>
        </p:sp>
      </p:grpSp>
      <p:sp>
        <p:nvSpPr>
          <p:cNvPr name="TextBox 57" id="57"/>
          <p:cNvSpPr txBox="true"/>
          <p:nvPr/>
        </p:nvSpPr>
        <p:spPr>
          <a:xfrm rot="0">
            <a:off x="7188156" y="7196223"/>
            <a:ext cx="3660600" cy="541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1"/>
              </a:lnSpc>
            </a:pPr>
            <a:r>
              <a:rPr lang="en-US" sz="165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Leave Review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3639714" y="2560787"/>
            <a:ext cx="2974267" cy="358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 b="true">
                <a:solidFill>
                  <a:srgbClr val="F9731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SELLER / ADMIN</a:t>
            </a:r>
          </a:p>
        </p:txBody>
      </p:sp>
      <p:grpSp>
        <p:nvGrpSpPr>
          <p:cNvPr name="Group 59" id="59"/>
          <p:cNvGrpSpPr/>
          <p:nvPr/>
        </p:nvGrpSpPr>
        <p:grpSpPr>
          <a:xfrm rot="0">
            <a:off x="13136470" y="3033608"/>
            <a:ext cx="3843480" cy="713794"/>
            <a:chOff x="0" y="0"/>
            <a:chExt cx="5124640" cy="951725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5124704" cy="951738"/>
            </a:xfrm>
            <a:custGeom>
              <a:avLst/>
              <a:gdLst/>
              <a:ahLst/>
              <a:cxnLst/>
              <a:rect r="r" b="b" t="t" l="l"/>
              <a:pathLst>
                <a:path h="951738" w="5124704">
                  <a:moveTo>
                    <a:pt x="0" y="0"/>
                  </a:moveTo>
                  <a:lnTo>
                    <a:pt x="5124704" y="0"/>
                  </a:lnTo>
                  <a:lnTo>
                    <a:pt x="5124704" y="951738"/>
                  </a:lnTo>
                  <a:lnTo>
                    <a:pt x="0" y="951738"/>
                  </a:lnTo>
                  <a:close/>
                </a:path>
              </a:pathLst>
            </a:custGeom>
            <a:solidFill>
              <a:srgbClr val="256DCA"/>
            </a:solidFill>
          </p:spPr>
        </p:sp>
      </p:grpSp>
      <p:sp>
        <p:nvSpPr>
          <p:cNvPr name="TextBox 61" id="61"/>
          <p:cNvSpPr txBox="true"/>
          <p:nvPr/>
        </p:nvSpPr>
        <p:spPr>
          <a:xfrm rot="0">
            <a:off x="13227910" y="3133115"/>
            <a:ext cx="3660600" cy="541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1"/>
              </a:lnSpc>
            </a:pPr>
            <a:r>
              <a:rPr lang="en-US" sz="165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Post a Listing</a:t>
            </a:r>
          </a:p>
        </p:txBody>
      </p:sp>
      <p:grpSp>
        <p:nvGrpSpPr>
          <p:cNvPr name="Group 62" id="62"/>
          <p:cNvGrpSpPr/>
          <p:nvPr/>
        </p:nvGrpSpPr>
        <p:grpSpPr>
          <a:xfrm rot="0">
            <a:off x="15017039" y="3747392"/>
            <a:ext cx="96088" cy="370618"/>
            <a:chOff x="0" y="0"/>
            <a:chExt cx="128118" cy="494157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28143" cy="494157"/>
            </a:xfrm>
            <a:custGeom>
              <a:avLst/>
              <a:gdLst/>
              <a:ahLst/>
              <a:cxnLst/>
              <a:rect r="r" b="b" t="t" l="l"/>
              <a:pathLst>
                <a:path h="494157" w="128143">
                  <a:moveTo>
                    <a:pt x="0" y="0"/>
                  </a:moveTo>
                  <a:lnTo>
                    <a:pt x="128143" y="0"/>
                  </a:lnTo>
                  <a:lnTo>
                    <a:pt x="128143" y="494157"/>
                  </a:lnTo>
                  <a:lnTo>
                    <a:pt x="0" y="494157"/>
                  </a:lnTo>
                  <a:close/>
                </a:path>
              </a:pathLst>
            </a:custGeom>
            <a:solidFill>
              <a:srgbClr val="64748B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13136470" y="4049382"/>
            <a:ext cx="3843480" cy="713794"/>
            <a:chOff x="0" y="0"/>
            <a:chExt cx="5124640" cy="951725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5124704" cy="951738"/>
            </a:xfrm>
            <a:custGeom>
              <a:avLst/>
              <a:gdLst/>
              <a:ahLst/>
              <a:cxnLst/>
              <a:rect r="r" b="b" t="t" l="l"/>
              <a:pathLst>
                <a:path h="951738" w="5124704">
                  <a:moveTo>
                    <a:pt x="0" y="0"/>
                  </a:moveTo>
                  <a:lnTo>
                    <a:pt x="5124704" y="0"/>
                  </a:lnTo>
                  <a:lnTo>
                    <a:pt x="5124704" y="951738"/>
                  </a:lnTo>
                  <a:lnTo>
                    <a:pt x="0" y="951738"/>
                  </a:lnTo>
                  <a:close/>
                </a:path>
              </a:pathLst>
            </a:custGeom>
            <a:solidFill>
              <a:srgbClr val="256DCA"/>
            </a:solidFill>
          </p:spPr>
        </p:sp>
      </p:grpSp>
      <p:sp>
        <p:nvSpPr>
          <p:cNvPr name="TextBox 66" id="66"/>
          <p:cNvSpPr txBox="true"/>
          <p:nvPr/>
        </p:nvSpPr>
        <p:spPr>
          <a:xfrm rot="0">
            <a:off x="13227910" y="4148890"/>
            <a:ext cx="3660600" cy="541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1"/>
              </a:lnSpc>
            </a:pPr>
            <a:r>
              <a:rPr lang="en-US" sz="165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Manage Listings</a:t>
            </a:r>
          </a:p>
          <a:p>
            <a:pPr algn="ctr">
              <a:lnSpc>
                <a:spcPts val="1981"/>
              </a:lnSpc>
            </a:pPr>
            <a:r>
              <a:rPr lang="en-US" sz="165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(Edit / Mark Sold)</a:t>
            </a:r>
          </a:p>
        </p:txBody>
      </p:sp>
      <p:grpSp>
        <p:nvGrpSpPr>
          <p:cNvPr name="Group 67" id="67"/>
          <p:cNvGrpSpPr/>
          <p:nvPr/>
        </p:nvGrpSpPr>
        <p:grpSpPr>
          <a:xfrm rot="0">
            <a:off x="15017039" y="4763176"/>
            <a:ext cx="96088" cy="370618"/>
            <a:chOff x="0" y="0"/>
            <a:chExt cx="128118" cy="494157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28143" cy="494157"/>
            </a:xfrm>
            <a:custGeom>
              <a:avLst/>
              <a:gdLst/>
              <a:ahLst/>
              <a:cxnLst/>
              <a:rect r="r" b="b" t="t" l="l"/>
              <a:pathLst>
                <a:path h="494157" w="128143">
                  <a:moveTo>
                    <a:pt x="0" y="0"/>
                  </a:moveTo>
                  <a:lnTo>
                    <a:pt x="128143" y="0"/>
                  </a:lnTo>
                  <a:lnTo>
                    <a:pt x="128143" y="494157"/>
                  </a:lnTo>
                  <a:lnTo>
                    <a:pt x="0" y="494157"/>
                  </a:lnTo>
                  <a:close/>
                </a:path>
              </a:pathLst>
            </a:custGeom>
            <a:solidFill>
              <a:srgbClr val="64748B"/>
            </a:solid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13136470" y="5065157"/>
            <a:ext cx="3843480" cy="713794"/>
            <a:chOff x="0" y="0"/>
            <a:chExt cx="5124640" cy="951725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5124704" cy="951738"/>
            </a:xfrm>
            <a:custGeom>
              <a:avLst/>
              <a:gdLst/>
              <a:ahLst/>
              <a:cxnLst/>
              <a:rect r="r" b="b" t="t" l="l"/>
              <a:pathLst>
                <a:path h="951738" w="5124704">
                  <a:moveTo>
                    <a:pt x="0" y="0"/>
                  </a:moveTo>
                  <a:lnTo>
                    <a:pt x="5124704" y="0"/>
                  </a:lnTo>
                  <a:lnTo>
                    <a:pt x="5124704" y="951738"/>
                  </a:lnTo>
                  <a:lnTo>
                    <a:pt x="0" y="951738"/>
                  </a:lnTo>
                  <a:close/>
                </a:path>
              </a:pathLst>
            </a:custGeom>
            <a:solidFill>
              <a:srgbClr val="F97316"/>
            </a:solidFill>
          </p:spPr>
        </p:sp>
      </p:grpSp>
      <p:sp>
        <p:nvSpPr>
          <p:cNvPr name="TextBox 71" id="71"/>
          <p:cNvSpPr txBox="true"/>
          <p:nvPr/>
        </p:nvSpPr>
        <p:spPr>
          <a:xfrm rot="0">
            <a:off x="13227910" y="5164665"/>
            <a:ext cx="3660600" cy="541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1"/>
              </a:lnSpc>
            </a:pPr>
            <a:r>
              <a:rPr lang="en-US" sz="165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Confirm Order</a:t>
            </a:r>
          </a:p>
        </p:txBody>
      </p:sp>
      <p:grpSp>
        <p:nvGrpSpPr>
          <p:cNvPr name="Group 72" id="72"/>
          <p:cNvGrpSpPr/>
          <p:nvPr/>
        </p:nvGrpSpPr>
        <p:grpSpPr>
          <a:xfrm rot="0">
            <a:off x="15017039" y="5778951"/>
            <a:ext cx="96088" cy="370618"/>
            <a:chOff x="0" y="0"/>
            <a:chExt cx="128118" cy="494157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28143" cy="494157"/>
            </a:xfrm>
            <a:custGeom>
              <a:avLst/>
              <a:gdLst/>
              <a:ahLst/>
              <a:cxnLst/>
              <a:rect r="r" b="b" t="t" l="l"/>
              <a:pathLst>
                <a:path h="494157" w="128143">
                  <a:moveTo>
                    <a:pt x="0" y="0"/>
                  </a:moveTo>
                  <a:lnTo>
                    <a:pt x="128143" y="0"/>
                  </a:lnTo>
                  <a:lnTo>
                    <a:pt x="128143" y="494157"/>
                  </a:lnTo>
                  <a:lnTo>
                    <a:pt x="0" y="494157"/>
                  </a:lnTo>
                  <a:close/>
                </a:path>
              </a:pathLst>
            </a:custGeom>
            <a:solidFill>
              <a:srgbClr val="64748B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13136470" y="6080941"/>
            <a:ext cx="3843480" cy="713794"/>
            <a:chOff x="0" y="0"/>
            <a:chExt cx="5124640" cy="951725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5124704" cy="951738"/>
            </a:xfrm>
            <a:custGeom>
              <a:avLst/>
              <a:gdLst/>
              <a:ahLst/>
              <a:cxnLst/>
              <a:rect r="r" b="b" t="t" l="l"/>
              <a:pathLst>
                <a:path h="951738" w="5124704">
                  <a:moveTo>
                    <a:pt x="0" y="0"/>
                  </a:moveTo>
                  <a:lnTo>
                    <a:pt x="5124704" y="0"/>
                  </a:lnTo>
                  <a:lnTo>
                    <a:pt x="5124704" y="951738"/>
                  </a:lnTo>
                  <a:lnTo>
                    <a:pt x="0" y="951738"/>
                  </a:lnTo>
                  <a:close/>
                </a:path>
              </a:pathLst>
            </a:custGeom>
            <a:solidFill>
              <a:srgbClr val="16A34A"/>
            </a:solidFill>
          </p:spPr>
        </p:sp>
      </p:grpSp>
      <p:sp>
        <p:nvSpPr>
          <p:cNvPr name="TextBox 76" id="76"/>
          <p:cNvSpPr txBox="true"/>
          <p:nvPr/>
        </p:nvSpPr>
        <p:spPr>
          <a:xfrm rot="0">
            <a:off x="13227910" y="6180449"/>
            <a:ext cx="3660600" cy="541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1"/>
              </a:lnSpc>
            </a:pPr>
            <a:r>
              <a:rPr lang="en-US" sz="165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Mark Order Complete</a:t>
            </a:r>
          </a:p>
        </p:txBody>
      </p:sp>
      <p:grpSp>
        <p:nvGrpSpPr>
          <p:cNvPr name="Group 77" id="77"/>
          <p:cNvGrpSpPr/>
          <p:nvPr/>
        </p:nvGrpSpPr>
        <p:grpSpPr>
          <a:xfrm rot="0">
            <a:off x="15017039" y="6794725"/>
            <a:ext cx="96088" cy="370618"/>
            <a:chOff x="0" y="0"/>
            <a:chExt cx="128118" cy="494157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28143" cy="494157"/>
            </a:xfrm>
            <a:custGeom>
              <a:avLst/>
              <a:gdLst/>
              <a:ahLst/>
              <a:cxnLst/>
              <a:rect r="r" b="b" t="t" l="l"/>
              <a:pathLst>
                <a:path h="494157" w="128143">
                  <a:moveTo>
                    <a:pt x="0" y="0"/>
                  </a:moveTo>
                  <a:lnTo>
                    <a:pt x="128143" y="0"/>
                  </a:lnTo>
                  <a:lnTo>
                    <a:pt x="128143" y="494157"/>
                  </a:lnTo>
                  <a:lnTo>
                    <a:pt x="0" y="494157"/>
                  </a:lnTo>
                  <a:close/>
                </a:path>
              </a:pathLst>
            </a:custGeom>
            <a:solidFill>
              <a:srgbClr val="64748B"/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13136470" y="7096716"/>
            <a:ext cx="3843480" cy="713794"/>
            <a:chOff x="0" y="0"/>
            <a:chExt cx="5124640" cy="951725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5124704" cy="951738"/>
            </a:xfrm>
            <a:custGeom>
              <a:avLst/>
              <a:gdLst/>
              <a:ahLst/>
              <a:cxnLst/>
              <a:rect r="r" b="b" t="t" l="l"/>
              <a:pathLst>
                <a:path h="951738" w="5124704">
                  <a:moveTo>
                    <a:pt x="0" y="0"/>
                  </a:moveTo>
                  <a:lnTo>
                    <a:pt x="5124704" y="0"/>
                  </a:lnTo>
                  <a:lnTo>
                    <a:pt x="5124704" y="951738"/>
                  </a:lnTo>
                  <a:lnTo>
                    <a:pt x="0" y="951738"/>
                  </a:lnTo>
                  <a:close/>
                </a:path>
              </a:pathLst>
            </a:custGeom>
            <a:solidFill>
              <a:srgbClr val="7C3AED"/>
            </a:solidFill>
          </p:spPr>
        </p:sp>
      </p:grpSp>
      <p:sp>
        <p:nvSpPr>
          <p:cNvPr name="TextBox 81" id="81"/>
          <p:cNvSpPr txBox="true"/>
          <p:nvPr/>
        </p:nvSpPr>
        <p:spPr>
          <a:xfrm rot="0">
            <a:off x="13227910" y="7196223"/>
            <a:ext cx="3660600" cy="541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1"/>
              </a:lnSpc>
            </a:pPr>
            <a:r>
              <a:rPr lang="en-US" sz="165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Admin: Moderate</a:t>
            </a:r>
          </a:p>
          <a:p>
            <a:pPr algn="ctr">
              <a:lnSpc>
                <a:spcPts val="1981"/>
              </a:lnSpc>
            </a:pPr>
            <a:r>
              <a:rPr lang="en-US" sz="165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Users &amp; Listings</a:t>
            </a:r>
          </a:p>
        </p:txBody>
      </p:sp>
      <p:grpSp>
        <p:nvGrpSpPr>
          <p:cNvPr name="Group 82" id="82"/>
          <p:cNvGrpSpPr/>
          <p:nvPr/>
        </p:nvGrpSpPr>
        <p:grpSpPr>
          <a:xfrm rot="0">
            <a:off x="686333" y="9402804"/>
            <a:ext cx="16883872" cy="54912"/>
            <a:chOff x="0" y="0"/>
            <a:chExt cx="22511830" cy="73216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22511765" cy="73152"/>
            </a:xfrm>
            <a:custGeom>
              <a:avLst/>
              <a:gdLst/>
              <a:ahLst/>
              <a:cxnLst/>
              <a:rect r="r" b="b" t="t" l="l"/>
              <a:pathLst>
                <a:path h="73152" w="22511765">
                  <a:moveTo>
                    <a:pt x="0" y="0"/>
                  </a:moveTo>
                  <a:lnTo>
                    <a:pt x="22511765" y="0"/>
                  </a:lnTo>
                  <a:lnTo>
                    <a:pt x="22511765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64748B"/>
            </a:solid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686333" y="9471441"/>
            <a:ext cx="343167" cy="343167"/>
            <a:chOff x="0" y="0"/>
            <a:chExt cx="457556" cy="457556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457581" cy="457581"/>
            </a:xfrm>
            <a:custGeom>
              <a:avLst/>
              <a:gdLst/>
              <a:ahLst/>
              <a:cxnLst/>
              <a:rect r="r" b="b" t="t" l="l"/>
              <a:pathLst>
                <a:path h="457581" w="457581">
                  <a:moveTo>
                    <a:pt x="0" y="0"/>
                  </a:moveTo>
                  <a:lnTo>
                    <a:pt x="457581" y="0"/>
                  </a:lnTo>
                  <a:lnTo>
                    <a:pt x="457581" y="457581"/>
                  </a:lnTo>
                  <a:lnTo>
                    <a:pt x="0" y="457581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sp>
        <p:nvSpPr>
          <p:cNvPr name="TextBox 86" id="86"/>
          <p:cNvSpPr txBox="true"/>
          <p:nvPr/>
        </p:nvSpPr>
        <p:spPr>
          <a:xfrm rot="0">
            <a:off x="1189577" y="9451610"/>
            <a:ext cx="2699728" cy="358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Guest Flow</a:t>
            </a:r>
          </a:p>
        </p:txBody>
      </p:sp>
      <p:grpSp>
        <p:nvGrpSpPr>
          <p:cNvPr name="Group 87" id="87"/>
          <p:cNvGrpSpPr/>
          <p:nvPr/>
        </p:nvGrpSpPr>
        <p:grpSpPr>
          <a:xfrm rot="0">
            <a:off x="4118019" y="9471441"/>
            <a:ext cx="343167" cy="343167"/>
            <a:chOff x="0" y="0"/>
            <a:chExt cx="457556" cy="457556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457581" cy="457581"/>
            </a:xfrm>
            <a:custGeom>
              <a:avLst/>
              <a:gdLst/>
              <a:ahLst/>
              <a:cxnLst/>
              <a:rect r="r" b="b" t="t" l="l"/>
              <a:pathLst>
                <a:path h="457581" w="457581">
                  <a:moveTo>
                    <a:pt x="0" y="0"/>
                  </a:moveTo>
                  <a:lnTo>
                    <a:pt x="457581" y="0"/>
                  </a:lnTo>
                  <a:lnTo>
                    <a:pt x="457581" y="457581"/>
                  </a:lnTo>
                  <a:lnTo>
                    <a:pt x="0" y="457581"/>
                  </a:lnTo>
                  <a:close/>
                </a:path>
              </a:pathLst>
            </a:custGeom>
            <a:solidFill>
              <a:srgbClr val="06B6D4"/>
            </a:solidFill>
          </p:spPr>
        </p:sp>
      </p:grpSp>
      <p:sp>
        <p:nvSpPr>
          <p:cNvPr name="TextBox 89" id="89"/>
          <p:cNvSpPr txBox="true"/>
          <p:nvPr/>
        </p:nvSpPr>
        <p:spPr>
          <a:xfrm rot="0">
            <a:off x="4621263" y="9451610"/>
            <a:ext cx="2699728" cy="358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Buyer Actions</a:t>
            </a:r>
          </a:p>
        </p:txBody>
      </p:sp>
      <p:grpSp>
        <p:nvGrpSpPr>
          <p:cNvPr name="Group 90" id="90"/>
          <p:cNvGrpSpPr/>
          <p:nvPr/>
        </p:nvGrpSpPr>
        <p:grpSpPr>
          <a:xfrm rot="0">
            <a:off x="7549696" y="9471441"/>
            <a:ext cx="343167" cy="343167"/>
            <a:chOff x="0" y="0"/>
            <a:chExt cx="457556" cy="457556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457581" cy="457581"/>
            </a:xfrm>
            <a:custGeom>
              <a:avLst/>
              <a:gdLst/>
              <a:ahLst/>
              <a:cxnLst/>
              <a:rect r="r" b="b" t="t" l="l"/>
              <a:pathLst>
                <a:path h="457581" w="457581">
                  <a:moveTo>
                    <a:pt x="0" y="0"/>
                  </a:moveTo>
                  <a:lnTo>
                    <a:pt x="457581" y="0"/>
                  </a:lnTo>
                  <a:lnTo>
                    <a:pt x="457581" y="457581"/>
                  </a:lnTo>
                  <a:lnTo>
                    <a:pt x="0" y="457581"/>
                  </a:lnTo>
                  <a:close/>
                </a:path>
              </a:pathLst>
            </a:custGeom>
            <a:solidFill>
              <a:srgbClr val="256DCA"/>
            </a:solidFill>
          </p:spPr>
        </p:sp>
      </p:grpSp>
      <p:sp>
        <p:nvSpPr>
          <p:cNvPr name="TextBox 92" id="92"/>
          <p:cNvSpPr txBox="true"/>
          <p:nvPr/>
        </p:nvSpPr>
        <p:spPr>
          <a:xfrm rot="0">
            <a:off x="8052940" y="9451610"/>
            <a:ext cx="2699728" cy="358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Seller Actions</a:t>
            </a:r>
          </a:p>
        </p:txBody>
      </p:sp>
      <p:grpSp>
        <p:nvGrpSpPr>
          <p:cNvPr name="Group 93" id="93"/>
          <p:cNvGrpSpPr/>
          <p:nvPr/>
        </p:nvGrpSpPr>
        <p:grpSpPr>
          <a:xfrm rot="0">
            <a:off x="10981382" y="9471441"/>
            <a:ext cx="343167" cy="343167"/>
            <a:chOff x="0" y="0"/>
            <a:chExt cx="457556" cy="457556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457581" cy="457581"/>
            </a:xfrm>
            <a:custGeom>
              <a:avLst/>
              <a:gdLst/>
              <a:ahLst/>
              <a:cxnLst/>
              <a:rect r="r" b="b" t="t" l="l"/>
              <a:pathLst>
                <a:path h="457581" w="457581">
                  <a:moveTo>
                    <a:pt x="0" y="0"/>
                  </a:moveTo>
                  <a:lnTo>
                    <a:pt x="457581" y="0"/>
                  </a:lnTo>
                  <a:lnTo>
                    <a:pt x="457581" y="457581"/>
                  </a:lnTo>
                  <a:lnTo>
                    <a:pt x="0" y="457581"/>
                  </a:lnTo>
                  <a:close/>
                </a:path>
              </a:pathLst>
            </a:custGeom>
            <a:solidFill>
              <a:srgbClr val="16A34A"/>
            </a:solidFill>
          </p:spPr>
        </p:sp>
      </p:grpSp>
      <p:sp>
        <p:nvSpPr>
          <p:cNvPr name="TextBox 95" id="95"/>
          <p:cNvSpPr txBox="true"/>
          <p:nvPr/>
        </p:nvSpPr>
        <p:spPr>
          <a:xfrm rot="0">
            <a:off x="11484616" y="9451610"/>
            <a:ext cx="2699728" cy="358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Completed</a:t>
            </a:r>
          </a:p>
        </p:txBody>
      </p:sp>
      <p:grpSp>
        <p:nvGrpSpPr>
          <p:cNvPr name="Group 96" id="96"/>
          <p:cNvGrpSpPr/>
          <p:nvPr/>
        </p:nvGrpSpPr>
        <p:grpSpPr>
          <a:xfrm rot="0">
            <a:off x="14413059" y="9471441"/>
            <a:ext cx="343167" cy="343167"/>
            <a:chOff x="0" y="0"/>
            <a:chExt cx="457556" cy="457556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457581" cy="457581"/>
            </a:xfrm>
            <a:custGeom>
              <a:avLst/>
              <a:gdLst/>
              <a:ahLst/>
              <a:cxnLst/>
              <a:rect r="r" b="b" t="t" l="l"/>
              <a:pathLst>
                <a:path h="457581" w="457581">
                  <a:moveTo>
                    <a:pt x="0" y="0"/>
                  </a:moveTo>
                  <a:lnTo>
                    <a:pt x="457581" y="0"/>
                  </a:lnTo>
                  <a:lnTo>
                    <a:pt x="457581" y="457581"/>
                  </a:lnTo>
                  <a:lnTo>
                    <a:pt x="0" y="457581"/>
                  </a:lnTo>
                  <a:close/>
                </a:path>
              </a:pathLst>
            </a:custGeom>
            <a:solidFill>
              <a:srgbClr val="7C3AED"/>
            </a:solidFill>
          </p:spPr>
        </p:sp>
      </p:grpSp>
      <p:sp>
        <p:nvSpPr>
          <p:cNvPr name="TextBox 98" id="98"/>
          <p:cNvSpPr txBox="true"/>
          <p:nvPr/>
        </p:nvSpPr>
        <p:spPr>
          <a:xfrm rot="0">
            <a:off x="14916302" y="9451610"/>
            <a:ext cx="2699728" cy="358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Admin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10295039"/>
            <a:chOff x="0" y="0"/>
            <a:chExt cx="24396967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97725" cy="1921745"/>
            <a:chOff x="0" y="0"/>
            <a:chExt cx="24396967" cy="256232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96954" cy="2562352"/>
            </a:xfrm>
            <a:custGeom>
              <a:avLst/>
              <a:gdLst/>
              <a:ahLst/>
              <a:cxnLst/>
              <a:rect r="r" b="b" t="t" l="l"/>
              <a:pathLst>
                <a:path h="2562352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2562352"/>
                  </a:lnTo>
                  <a:lnTo>
                    <a:pt x="0" y="2562352"/>
                  </a:lnTo>
                  <a:close/>
                </a:path>
              </a:pathLst>
            </a:custGeom>
            <a:solidFill>
              <a:srgbClr val="256DCA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640509" y="234534"/>
            <a:ext cx="16975522" cy="955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64"/>
              </a:lnSpc>
            </a:pPr>
            <a:r>
              <a:rPr lang="en-US" sz="4803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April 4  —  Database &amp; UI Design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40509" y="1164869"/>
            <a:ext cx="16975522" cy="505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BFD7FF"/>
                </a:solidFill>
                <a:latin typeface="Calibri (MS)"/>
                <a:ea typeface="Calibri (MS)"/>
                <a:cs typeface="Calibri (MS)"/>
                <a:sym typeface="Calibri (MS)"/>
              </a:rPr>
              <a:t>Milestone 2 Deliverables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667274" y="2177215"/>
            <a:ext cx="5391550" cy="6215158"/>
            <a:chOff x="0" y="0"/>
            <a:chExt cx="7188733" cy="828687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25400" y="25400"/>
              <a:ext cx="7137908" cy="8236077"/>
            </a:xfrm>
            <a:custGeom>
              <a:avLst/>
              <a:gdLst/>
              <a:ahLst/>
              <a:cxnLst/>
              <a:rect r="r" b="b" t="t" l="l"/>
              <a:pathLst>
                <a:path h="8236077" w="7137908">
                  <a:moveTo>
                    <a:pt x="0" y="0"/>
                  </a:moveTo>
                  <a:lnTo>
                    <a:pt x="7137908" y="0"/>
                  </a:lnTo>
                  <a:lnTo>
                    <a:pt x="7137908" y="8236077"/>
                  </a:lnTo>
                  <a:lnTo>
                    <a:pt x="0" y="8236077"/>
                  </a:lnTo>
                  <a:close/>
                </a:path>
              </a:pathLst>
            </a:custGeom>
            <a:solidFill>
              <a:srgbClr val="1E2D40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188708" cy="8286877"/>
            </a:xfrm>
            <a:custGeom>
              <a:avLst/>
              <a:gdLst/>
              <a:ahLst/>
              <a:cxnLst/>
              <a:rect r="r" b="b" t="t" l="l"/>
              <a:pathLst>
                <a:path h="8286877" w="7188708">
                  <a:moveTo>
                    <a:pt x="25400" y="0"/>
                  </a:moveTo>
                  <a:lnTo>
                    <a:pt x="7163308" y="0"/>
                  </a:lnTo>
                  <a:cubicBezTo>
                    <a:pt x="7177405" y="0"/>
                    <a:pt x="7188708" y="11430"/>
                    <a:pt x="7188708" y="25400"/>
                  </a:cubicBezTo>
                  <a:lnTo>
                    <a:pt x="7188708" y="8261477"/>
                  </a:lnTo>
                  <a:cubicBezTo>
                    <a:pt x="7188708" y="8275574"/>
                    <a:pt x="7177277" y="8286877"/>
                    <a:pt x="7163308" y="8286877"/>
                  </a:cubicBezTo>
                  <a:lnTo>
                    <a:pt x="25400" y="8286877"/>
                  </a:lnTo>
                  <a:cubicBezTo>
                    <a:pt x="11303" y="8286877"/>
                    <a:pt x="0" y="8275447"/>
                    <a:pt x="0" y="8261477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8261477"/>
                  </a:lnTo>
                  <a:lnTo>
                    <a:pt x="25400" y="8261477"/>
                  </a:lnTo>
                  <a:lnTo>
                    <a:pt x="25400" y="8236077"/>
                  </a:lnTo>
                  <a:lnTo>
                    <a:pt x="7163308" y="8236077"/>
                  </a:lnTo>
                  <a:lnTo>
                    <a:pt x="7163308" y="8261477"/>
                  </a:lnTo>
                  <a:lnTo>
                    <a:pt x="7137908" y="8261477"/>
                  </a:lnTo>
                  <a:lnTo>
                    <a:pt x="7137908" y="25400"/>
                  </a:lnTo>
                  <a:lnTo>
                    <a:pt x="7163308" y="25400"/>
                  </a:lnTo>
                  <a:lnTo>
                    <a:pt x="7163308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256DCA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915048" y="2448011"/>
            <a:ext cx="4896012" cy="1258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5"/>
              </a:lnSpc>
            </a:pPr>
            <a:r>
              <a:rPr lang="en-US" sz="5404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🔗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5048" y="3772948"/>
            <a:ext cx="4896012" cy="711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2"/>
              </a:lnSpc>
            </a:pPr>
            <a:r>
              <a:rPr lang="en-US" sz="2551" b="true">
                <a:solidFill>
                  <a:srgbClr val="256DC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ER Diagram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098137" y="4598451"/>
            <a:ext cx="4529823" cy="54912"/>
            <a:chOff x="0" y="0"/>
            <a:chExt cx="6039764" cy="7321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039739" cy="73152"/>
            </a:xfrm>
            <a:custGeom>
              <a:avLst/>
              <a:gdLst/>
              <a:ahLst/>
              <a:cxnLst/>
              <a:rect r="r" b="b" t="t" l="l"/>
              <a:pathLst>
                <a:path h="73152" w="6039739">
                  <a:moveTo>
                    <a:pt x="0" y="0"/>
                  </a:moveTo>
                  <a:lnTo>
                    <a:pt x="6039739" y="0"/>
                  </a:lnTo>
                  <a:lnTo>
                    <a:pt x="6039739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256DCA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052312" y="4802448"/>
            <a:ext cx="4621473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1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11 entities with defined</a:t>
            </a:r>
          </a:p>
          <a:p>
            <a:pPr algn="ctr">
              <a:lnSpc>
                <a:spcPts val="2341"/>
              </a:lnSpc>
            </a:pPr>
            <a:r>
              <a:rPr lang="en-US" sz="1951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relationships and attributes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6528578" y="2177215"/>
            <a:ext cx="5391550" cy="6215158"/>
            <a:chOff x="0" y="0"/>
            <a:chExt cx="7188733" cy="828687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25400" y="25400"/>
              <a:ext cx="7137908" cy="8236077"/>
            </a:xfrm>
            <a:custGeom>
              <a:avLst/>
              <a:gdLst/>
              <a:ahLst/>
              <a:cxnLst/>
              <a:rect r="r" b="b" t="t" l="l"/>
              <a:pathLst>
                <a:path h="8236077" w="7137908">
                  <a:moveTo>
                    <a:pt x="0" y="0"/>
                  </a:moveTo>
                  <a:lnTo>
                    <a:pt x="7137908" y="0"/>
                  </a:lnTo>
                  <a:lnTo>
                    <a:pt x="7137908" y="8236077"/>
                  </a:lnTo>
                  <a:lnTo>
                    <a:pt x="0" y="8236077"/>
                  </a:lnTo>
                  <a:close/>
                </a:path>
              </a:pathLst>
            </a:custGeom>
            <a:solidFill>
              <a:srgbClr val="1E2D40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188708" cy="8286877"/>
            </a:xfrm>
            <a:custGeom>
              <a:avLst/>
              <a:gdLst/>
              <a:ahLst/>
              <a:cxnLst/>
              <a:rect r="r" b="b" t="t" l="l"/>
              <a:pathLst>
                <a:path h="8286877" w="7188708">
                  <a:moveTo>
                    <a:pt x="25400" y="0"/>
                  </a:moveTo>
                  <a:lnTo>
                    <a:pt x="7163308" y="0"/>
                  </a:lnTo>
                  <a:cubicBezTo>
                    <a:pt x="7177405" y="0"/>
                    <a:pt x="7188708" y="11430"/>
                    <a:pt x="7188708" y="25400"/>
                  </a:cubicBezTo>
                  <a:lnTo>
                    <a:pt x="7188708" y="8261477"/>
                  </a:lnTo>
                  <a:cubicBezTo>
                    <a:pt x="7188708" y="8275574"/>
                    <a:pt x="7177277" y="8286877"/>
                    <a:pt x="7163308" y="8286877"/>
                  </a:cubicBezTo>
                  <a:lnTo>
                    <a:pt x="25400" y="8286877"/>
                  </a:lnTo>
                  <a:cubicBezTo>
                    <a:pt x="11303" y="8286877"/>
                    <a:pt x="0" y="8275447"/>
                    <a:pt x="0" y="8261477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8261477"/>
                  </a:lnTo>
                  <a:lnTo>
                    <a:pt x="25400" y="8261477"/>
                  </a:lnTo>
                  <a:lnTo>
                    <a:pt x="25400" y="8236077"/>
                  </a:lnTo>
                  <a:lnTo>
                    <a:pt x="7163308" y="8236077"/>
                  </a:lnTo>
                  <a:lnTo>
                    <a:pt x="7163308" y="8261477"/>
                  </a:lnTo>
                  <a:lnTo>
                    <a:pt x="7137908" y="8261477"/>
                  </a:lnTo>
                  <a:lnTo>
                    <a:pt x="7137908" y="25400"/>
                  </a:lnTo>
                  <a:lnTo>
                    <a:pt x="7163308" y="25400"/>
                  </a:lnTo>
                  <a:lnTo>
                    <a:pt x="7163308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F97316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6776352" y="2448011"/>
            <a:ext cx="4896012" cy="1258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5"/>
              </a:lnSpc>
            </a:pPr>
            <a:r>
              <a:rPr lang="en-US" sz="5404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🗄️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776352" y="3772948"/>
            <a:ext cx="4896012" cy="711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2"/>
              </a:lnSpc>
            </a:pPr>
            <a:r>
              <a:rPr lang="en-US" sz="2551" b="true">
                <a:solidFill>
                  <a:srgbClr val="F9731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Database Design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6959451" y="4598451"/>
            <a:ext cx="4529823" cy="54912"/>
            <a:chOff x="0" y="0"/>
            <a:chExt cx="6039764" cy="7321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039739" cy="73152"/>
            </a:xfrm>
            <a:custGeom>
              <a:avLst/>
              <a:gdLst/>
              <a:ahLst/>
              <a:cxnLst/>
              <a:rect r="r" b="b" t="t" l="l"/>
              <a:pathLst>
                <a:path h="73152" w="6039739">
                  <a:moveTo>
                    <a:pt x="0" y="0"/>
                  </a:moveTo>
                  <a:lnTo>
                    <a:pt x="6039739" y="0"/>
                  </a:lnTo>
                  <a:lnTo>
                    <a:pt x="6039739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F97316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6913626" y="4802448"/>
            <a:ext cx="4621473" cy="1603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1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Tables, fields, data types,</a:t>
            </a:r>
          </a:p>
          <a:p>
            <a:pPr algn="ctr">
              <a:lnSpc>
                <a:spcPts val="2341"/>
              </a:lnSpc>
            </a:pPr>
            <a:r>
              <a:rPr lang="en-US" sz="1951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and foreign key relationships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2389891" y="2177215"/>
            <a:ext cx="5391550" cy="6215158"/>
            <a:chOff x="0" y="0"/>
            <a:chExt cx="7188733" cy="828687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25400" y="25400"/>
              <a:ext cx="7137908" cy="8236077"/>
            </a:xfrm>
            <a:custGeom>
              <a:avLst/>
              <a:gdLst/>
              <a:ahLst/>
              <a:cxnLst/>
              <a:rect r="r" b="b" t="t" l="l"/>
              <a:pathLst>
                <a:path h="8236077" w="7137908">
                  <a:moveTo>
                    <a:pt x="0" y="0"/>
                  </a:moveTo>
                  <a:lnTo>
                    <a:pt x="7137908" y="0"/>
                  </a:lnTo>
                  <a:lnTo>
                    <a:pt x="7137908" y="8236077"/>
                  </a:lnTo>
                  <a:lnTo>
                    <a:pt x="0" y="8236077"/>
                  </a:lnTo>
                  <a:close/>
                </a:path>
              </a:pathLst>
            </a:custGeom>
            <a:solidFill>
              <a:srgbClr val="1E2D40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188708" cy="8286877"/>
            </a:xfrm>
            <a:custGeom>
              <a:avLst/>
              <a:gdLst/>
              <a:ahLst/>
              <a:cxnLst/>
              <a:rect r="r" b="b" t="t" l="l"/>
              <a:pathLst>
                <a:path h="8286877" w="7188708">
                  <a:moveTo>
                    <a:pt x="25400" y="0"/>
                  </a:moveTo>
                  <a:lnTo>
                    <a:pt x="7163308" y="0"/>
                  </a:lnTo>
                  <a:cubicBezTo>
                    <a:pt x="7177405" y="0"/>
                    <a:pt x="7188708" y="11430"/>
                    <a:pt x="7188708" y="25400"/>
                  </a:cubicBezTo>
                  <a:lnTo>
                    <a:pt x="7188708" y="8261477"/>
                  </a:lnTo>
                  <a:cubicBezTo>
                    <a:pt x="7188708" y="8275574"/>
                    <a:pt x="7177277" y="8286877"/>
                    <a:pt x="7163308" y="8286877"/>
                  </a:cubicBezTo>
                  <a:lnTo>
                    <a:pt x="25400" y="8286877"/>
                  </a:lnTo>
                  <a:cubicBezTo>
                    <a:pt x="11303" y="8286877"/>
                    <a:pt x="0" y="8275447"/>
                    <a:pt x="0" y="8261477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8261477"/>
                  </a:lnTo>
                  <a:lnTo>
                    <a:pt x="25400" y="8261477"/>
                  </a:lnTo>
                  <a:lnTo>
                    <a:pt x="25400" y="8236077"/>
                  </a:lnTo>
                  <a:lnTo>
                    <a:pt x="7163308" y="8236077"/>
                  </a:lnTo>
                  <a:lnTo>
                    <a:pt x="7163308" y="8261477"/>
                  </a:lnTo>
                  <a:lnTo>
                    <a:pt x="7137908" y="8261477"/>
                  </a:lnTo>
                  <a:lnTo>
                    <a:pt x="7137908" y="25400"/>
                  </a:lnTo>
                  <a:lnTo>
                    <a:pt x="7163308" y="25400"/>
                  </a:lnTo>
                  <a:lnTo>
                    <a:pt x="7163308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16A34A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2637665" y="2448011"/>
            <a:ext cx="4896012" cy="1258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5"/>
              </a:lnSpc>
            </a:pPr>
            <a:r>
              <a:rPr lang="en-US" sz="5404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🖥️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637665" y="3772948"/>
            <a:ext cx="4896012" cy="711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2"/>
              </a:lnSpc>
            </a:pPr>
            <a:r>
              <a:rPr lang="en-US" sz="2551" b="true">
                <a:solidFill>
                  <a:srgbClr val="16A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UI/UX Design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2820764" y="4598451"/>
            <a:ext cx="4529823" cy="54912"/>
            <a:chOff x="0" y="0"/>
            <a:chExt cx="6039764" cy="7321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039739" cy="73152"/>
            </a:xfrm>
            <a:custGeom>
              <a:avLst/>
              <a:gdLst/>
              <a:ahLst/>
              <a:cxnLst/>
              <a:rect r="r" b="b" t="t" l="l"/>
              <a:pathLst>
                <a:path h="73152" w="6039739">
                  <a:moveTo>
                    <a:pt x="0" y="0"/>
                  </a:moveTo>
                  <a:lnTo>
                    <a:pt x="6039739" y="0"/>
                  </a:lnTo>
                  <a:lnTo>
                    <a:pt x="6039739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16A34A"/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12774930" y="4802448"/>
            <a:ext cx="4621473" cy="1603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1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Key screens designed with</a:t>
            </a:r>
          </a:p>
          <a:p>
            <a:pPr algn="ctr">
              <a:lnSpc>
                <a:spcPts val="2341"/>
              </a:lnSpc>
            </a:pPr>
            <a:r>
              <a:rPr lang="en-US" sz="1951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Tailwind CSS &amp; React components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10295039"/>
            <a:chOff x="0" y="0"/>
            <a:chExt cx="24396967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97725" cy="1921745"/>
            <a:chOff x="0" y="0"/>
            <a:chExt cx="24396967" cy="256232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96954" cy="2562352"/>
            </a:xfrm>
            <a:custGeom>
              <a:avLst/>
              <a:gdLst/>
              <a:ahLst/>
              <a:cxnLst/>
              <a:rect r="r" b="b" t="t" l="l"/>
              <a:pathLst>
                <a:path h="2562352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2562352"/>
                  </a:lnTo>
                  <a:lnTo>
                    <a:pt x="0" y="2562352"/>
                  </a:lnTo>
                  <a:close/>
                </a:path>
              </a:pathLst>
            </a:custGeom>
            <a:solidFill>
              <a:srgbClr val="256DCA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640509" y="234534"/>
            <a:ext cx="16975522" cy="955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64"/>
              </a:lnSpc>
            </a:pPr>
            <a:r>
              <a:rPr lang="en-US" sz="4803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ER Diagram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40509" y="1164869"/>
            <a:ext cx="16975522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BFD7FF"/>
                </a:solidFill>
                <a:latin typeface="Calibri (MS)"/>
                <a:ea typeface="Calibri (MS)"/>
                <a:cs typeface="Calibri (MS)"/>
                <a:sym typeface="Calibri (MS)"/>
              </a:rPr>
              <a:t>Entities, relationships, and attributes — 11 tables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7233560" y="5953406"/>
            <a:ext cx="3843480" cy="686333"/>
            <a:chOff x="0" y="0"/>
            <a:chExt cx="5124640" cy="915111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5124640" cy="915111"/>
              <a:chOff x="0" y="0"/>
              <a:chExt cx="5124640" cy="915111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5124704" cy="915162"/>
              </a:xfrm>
              <a:custGeom>
                <a:avLst/>
                <a:gdLst/>
                <a:ahLst/>
                <a:cxnLst/>
                <a:rect r="r" b="b" t="t" l="l"/>
                <a:pathLst>
                  <a:path h="915162" w="5124704">
                    <a:moveTo>
                      <a:pt x="0" y="0"/>
                    </a:moveTo>
                    <a:lnTo>
                      <a:pt x="5124704" y="0"/>
                    </a:lnTo>
                    <a:lnTo>
                      <a:pt x="5124704" y="915162"/>
                    </a:lnTo>
                    <a:lnTo>
                      <a:pt x="0" y="915162"/>
                    </a:lnTo>
                    <a:close/>
                  </a:path>
                </a:pathLst>
              </a:custGeom>
              <a:solidFill>
                <a:srgbClr val="256DCA"/>
              </a:solidFill>
            </p:spPr>
          </p:sp>
        </p:grpSp>
        <p:sp>
          <p:nvSpPr>
            <p:cNvPr name="TextBox 11" id="11"/>
            <p:cNvSpPr txBox="true"/>
            <p:nvPr/>
          </p:nvSpPr>
          <p:spPr>
            <a:xfrm rot="0">
              <a:off x="121920" y="169278"/>
              <a:ext cx="4880800" cy="342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01"/>
                </a:lnSpc>
              </a:pPr>
              <a:r>
                <a:rPr lang="en-US" sz="1501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USERS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233560" y="4053329"/>
            <a:ext cx="3843480" cy="686333"/>
            <a:chOff x="0" y="0"/>
            <a:chExt cx="5124640" cy="915111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5124640" cy="915111"/>
              <a:chOff x="0" y="0"/>
              <a:chExt cx="5124640" cy="915111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5124704" cy="915162"/>
              </a:xfrm>
              <a:custGeom>
                <a:avLst/>
                <a:gdLst/>
                <a:ahLst/>
                <a:cxnLst/>
                <a:rect r="r" b="b" t="t" l="l"/>
                <a:pathLst>
                  <a:path h="915162" w="5124704">
                    <a:moveTo>
                      <a:pt x="0" y="0"/>
                    </a:moveTo>
                    <a:lnTo>
                      <a:pt x="5124704" y="0"/>
                    </a:lnTo>
                    <a:lnTo>
                      <a:pt x="5124704" y="915162"/>
                    </a:lnTo>
                    <a:lnTo>
                      <a:pt x="0" y="915162"/>
                    </a:lnTo>
                    <a:close/>
                  </a:path>
                </a:pathLst>
              </a:custGeom>
              <a:solidFill>
                <a:srgbClr val="06B6D4"/>
              </a:solidFill>
            </p:spPr>
          </p:sp>
        </p:grpSp>
        <p:sp>
          <p:nvSpPr>
            <p:cNvPr name="TextBox 15" id="15"/>
            <p:cNvSpPr txBox="true"/>
            <p:nvPr/>
          </p:nvSpPr>
          <p:spPr>
            <a:xfrm rot="0">
              <a:off x="121920" y="169278"/>
              <a:ext cx="4880800" cy="5750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01"/>
                </a:lnSpc>
              </a:pPr>
              <a:r>
                <a:rPr lang="en-US" sz="1501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LISTINGS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089877" y="2738032"/>
            <a:ext cx="3843480" cy="686333"/>
            <a:chOff x="0" y="0"/>
            <a:chExt cx="5124640" cy="915111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5124640" cy="915111"/>
              <a:chOff x="0" y="0"/>
              <a:chExt cx="5124640" cy="915111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5124704" cy="915162"/>
              </a:xfrm>
              <a:custGeom>
                <a:avLst/>
                <a:gdLst/>
                <a:ahLst/>
                <a:cxnLst/>
                <a:rect r="r" b="b" t="t" l="l"/>
                <a:pathLst>
                  <a:path h="915162" w="5124704">
                    <a:moveTo>
                      <a:pt x="0" y="0"/>
                    </a:moveTo>
                    <a:lnTo>
                      <a:pt x="5124704" y="0"/>
                    </a:lnTo>
                    <a:lnTo>
                      <a:pt x="5124704" y="915162"/>
                    </a:lnTo>
                    <a:lnTo>
                      <a:pt x="0" y="915162"/>
                    </a:lnTo>
                    <a:close/>
                  </a:path>
                </a:pathLst>
              </a:custGeom>
              <a:solidFill>
                <a:srgbClr val="7C3AED"/>
              </a:solidFill>
            </p:spPr>
          </p:sp>
        </p:grpSp>
        <p:sp>
          <p:nvSpPr>
            <p:cNvPr name="TextBox 19" id="19"/>
            <p:cNvSpPr txBox="true"/>
            <p:nvPr/>
          </p:nvSpPr>
          <p:spPr>
            <a:xfrm rot="0">
              <a:off x="121920" y="169278"/>
              <a:ext cx="4880800" cy="5750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01"/>
                </a:lnSpc>
              </a:pPr>
              <a:r>
                <a:rPr lang="en-US" sz="1501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CATEGORIES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233560" y="2520729"/>
            <a:ext cx="3843480" cy="686333"/>
            <a:chOff x="0" y="0"/>
            <a:chExt cx="5124640" cy="915111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5124640" cy="915111"/>
              <a:chOff x="0" y="0"/>
              <a:chExt cx="5124640" cy="915111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5124704" cy="915162"/>
              </a:xfrm>
              <a:custGeom>
                <a:avLst/>
                <a:gdLst/>
                <a:ahLst/>
                <a:cxnLst/>
                <a:rect r="r" b="b" t="t" l="l"/>
                <a:pathLst>
                  <a:path h="915162" w="5124704">
                    <a:moveTo>
                      <a:pt x="0" y="0"/>
                    </a:moveTo>
                    <a:lnTo>
                      <a:pt x="5124704" y="0"/>
                    </a:lnTo>
                    <a:lnTo>
                      <a:pt x="5124704" y="915162"/>
                    </a:lnTo>
                    <a:lnTo>
                      <a:pt x="0" y="915162"/>
                    </a:lnTo>
                    <a:close/>
                  </a:path>
                </a:pathLst>
              </a:custGeom>
              <a:solidFill>
                <a:srgbClr val="64748B"/>
              </a:solidFill>
            </p:spPr>
          </p:sp>
        </p:grpSp>
        <p:sp>
          <p:nvSpPr>
            <p:cNvPr name="TextBox 23" id="23"/>
            <p:cNvSpPr txBox="true"/>
            <p:nvPr/>
          </p:nvSpPr>
          <p:spPr>
            <a:xfrm rot="0">
              <a:off x="121920" y="169278"/>
              <a:ext cx="4880800" cy="5750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01"/>
                </a:lnSpc>
              </a:pPr>
              <a:r>
                <a:rPr lang="en-US" sz="1501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LISTING_IMAGES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323182" y="4053329"/>
            <a:ext cx="3843480" cy="686333"/>
            <a:chOff x="0" y="0"/>
            <a:chExt cx="5124640" cy="915111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5124640" cy="915111"/>
              <a:chOff x="0" y="0"/>
              <a:chExt cx="5124640" cy="915111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5124704" cy="915162"/>
              </a:xfrm>
              <a:custGeom>
                <a:avLst/>
                <a:gdLst/>
                <a:ahLst/>
                <a:cxnLst/>
                <a:rect r="r" b="b" t="t" l="l"/>
                <a:pathLst>
                  <a:path h="915162" w="5124704">
                    <a:moveTo>
                      <a:pt x="0" y="0"/>
                    </a:moveTo>
                    <a:lnTo>
                      <a:pt x="5124704" y="0"/>
                    </a:lnTo>
                    <a:lnTo>
                      <a:pt x="5124704" y="915162"/>
                    </a:lnTo>
                    <a:lnTo>
                      <a:pt x="0" y="915162"/>
                    </a:lnTo>
                    <a:close/>
                  </a:path>
                </a:pathLst>
              </a:custGeom>
              <a:solidFill>
                <a:srgbClr val="F97316"/>
              </a:solidFill>
            </p:spPr>
          </p:sp>
        </p:grpSp>
        <p:sp>
          <p:nvSpPr>
            <p:cNvPr name="TextBox 27" id="27"/>
            <p:cNvSpPr txBox="true"/>
            <p:nvPr/>
          </p:nvSpPr>
          <p:spPr>
            <a:xfrm rot="0">
              <a:off x="121920" y="169278"/>
              <a:ext cx="4880800" cy="5750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01"/>
                </a:lnSpc>
              </a:pPr>
              <a:r>
                <a:rPr lang="en-US" sz="1501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ORDERS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323182" y="5953406"/>
            <a:ext cx="3843480" cy="686333"/>
            <a:chOff x="0" y="0"/>
            <a:chExt cx="5124640" cy="915111"/>
          </a:xfrm>
        </p:grpSpPr>
        <p:grpSp>
          <p:nvGrpSpPr>
            <p:cNvPr name="Group 29" id="29"/>
            <p:cNvGrpSpPr/>
            <p:nvPr/>
          </p:nvGrpSpPr>
          <p:grpSpPr>
            <a:xfrm rot="0">
              <a:off x="0" y="0"/>
              <a:ext cx="5124640" cy="915111"/>
              <a:chOff x="0" y="0"/>
              <a:chExt cx="5124640" cy="915111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5124704" cy="915162"/>
              </a:xfrm>
              <a:custGeom>
                <a:avLst/>
                <a:gdLst/>
                <a:ahLst/>
                <a:cxnLst/>
                <a:rect r="r" b="b" t="t" l="l"/>
                <a:pathLst>
                  <a:path h="915162" w="5124704">
                    <a:moveTo>
                      <a:pt x="0" y="0"/>
                    </a:moveTo>
                    <a:lnTo>
                      <a:pt x="5124704" y="0"/>
                    </a:lnTo>
                    <a:lnTo>
                      <a:pt x="5124704" y="915162"/>
                    </a:lnTo>
                    <a:lnTo>
                      <a:pt x="0" y="915162"/>
                    </a:lnTo>
                    <a:close/>
                  </a:path>
                </a:pathLst>
              </a:custGeom>
              <a:solidFill>
                <a:srgbClr val="16A34A"/>
              </a:solidFill>
            </p:spPr>
          </p:sp>
        </p:grpSp>
        <p:sp>
          <p:nvSpPr>
            <p:cNvPr name="TextBox 31" id="31"/>
            <p:cNvSpPr txBox="true"/>
            <p:nvPr/>
          </p:nvSpPr>
          <p:spPr>
            <a:xfrm rot="0">
              <a:off x="121920" y="169278"/>
              <a:ext cx="4880800" cy="5750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01"/>
                </a:lnSpc>
              </a:pPr>
              <a:r>
                <a:rPr lang="en-US" sz="1501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REVIEWS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4089877" y="5953406"/>
            <a:ext cx="3843480" cy="686333"/>
            <a:chOff x="0" y="0"/>
            <a:chExt cx="5124640" cy="915111"/>
          </a:xfrm>
        </p:grpSpPr>
        <p:grpSp>
          <p:nvGrpSpPr>
            <p:cNvPr name="Group 33" id="33"/>
            <p:cNvGrpSpPr/>
            <p:nvPr/>
          </p:nvGrpSpPr>
          <p:grpSpPr>
            <a:xfrm rot="0">
              <a:off x="0" y="0"/>
              <a:ext cx="5124640" cy="915111"/>
              <a:chOff x="0" y="0"/>
              <a:chExt cx="5124640" cy="915111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5124704" cy="915162"/>
              </a:xfrm>
              <a:custGeom>
                <a:avLst/>
                <a:gdLst/>
                <a:ahLst/>
                <a:cxnLst/>
                <a:rect r="r" b="b" t="t" l="l"/>
                <a:pathLst>
                  <a:path h="915162" w="5124704">
                    <a:moveTo>
                      <a:pt x="0" y="0"/>
                    </a:moveTo>
                    <a:lnTo>
                      <a:pt x="5124704" y="0"/>
                    </a:lnTo>
                    <a:lnTo>
                      <a:pt x="5124704" y="915162"/>
                    </a:lnTo>
                    <a:lnTo>
                      <a:pt x="0" y="915162"/>
                    </a:lnTo>
                    <a:close/>
                  </a:path>
                </a:pathLst>
              </a:custGeom>
              <a:solidFill>
                <a:srgbClr val="256DCA"/>
              </a:solidFill>
            </p:spPr>
          </p:sp>
        </p:grpSp>
        <p:sp>
          <p:nvSpPr>
            <p:cNvPr name="TextBox 35" id="35"/>
            <p:cNvSpPr txBox="true"/>
            <p:nvPr/>
          </p:nvSpPr>
          <p:spPr>
            <a:xfrm rot="0">
              <a:off x="121920" y="169278"/>
              <a:ext cx="4880800" cy="5750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01"/>
                </a:lnSpc>
              </a:pPr>
              <a:r>
                <a:rPr lang="en-US" sz="1501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CONVERSATIONS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323182" y="8202501"/>
            <a:ext cx="3843480" cy="512207"/>
            <a:chOff x="0" y="0"/>
            <a:chExt cx="5124641" cy="682943"/>
          </a:xfrm>
        </p:grpSpPr>
        <p:grpSp>
          <p:nvGrpSpPr>
            <p:cNvPr name="Group 37" id="37"/>
            <p:cNvGrpSpPr/>
            <p:nvPr/>
          </p:nvGrpSpPr>
          <p:grpSpPr>
            <a:xfrm rot="0">
              <a:off x="0" y="0"/>
              <a:ext cx="5124640" cy="682943"/>
              <a:chOff x="0" y="0"/>
              <a:chExt cx="5124640" cy="682943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5124704" cy="682993"/>
              </a:xfrm>
              <a:custGeom>
                <a:avLst/>
                <a:gdLst/>
                <a:ahLst/>
                <a:cxnLst/>
                <a:rect r="r" b="b" t="t" l="l"/>
                <a:pathLst>
                  <a:path h="682993" w="5124704">
                    <a:moveTo>
                      <a:pt x="0" y="0"/>
                    </a:moveTo>
                    <a:lnTo>
                      <a:pt x="5124704" y="0"/>
                    </a:lnTo>
                    <a:lnTo>
                      <a:pt x="5124704" y="682993"/>
                    </a:lnTo>
                    <a:lnTo>
                      <a:pt x="0" y="682993"/>
                    </a:lnTo>
                    <a:close/>
                  </a:path>
                </a:pathLst>
              </a:custGeom>
              <a:solidFill>
                <a:srgbClr val="64748B"/>
              </a:solidFill>
            </p:spPr>
          </p:sp>
        </p:grpSp>
        <p:sp>
          <p:nvSpPr>
            <p:cNvPr name="TextBox 39" id="39"/>
            <p:cNvSpPr txBox="true"/>
            <p:nvPr/>
          </p:nvSpPr>
          <p:spPr>
            <a:xfrm rot="0">
              <a:off x="121920" y="169278"/>
              <a:ext cx="4880800" cy="342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01"/>
                </a:lnSpc>
              </a:pPr>
              <a:r>
                <a:rPr lang="en-US" sz="1501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CONV_PARTICIPANTS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4089877" y="7607608"/>
            <a:ext cx="3843480" cy="686333"/>
            <a:chOff x="0" y="0"/>
            <a:chExt cx="5124640" cy="915111"/>
          </a:xfrm>
        </p:grpSpPr>
        <p:grpSp>
          <p:nvGrpSpPr>
            <p:cNvPr name="Group 41" id="41"/>
            <p:cNvGrpSpPr/>
            <p:nvPr/>
          </p:nvGrpSpPr>
          <p:grpSpPr>
            <a:xfrm rot="0">
              <a:off x="0" y="0"/>
              <a:ext cx="5124640" cy="915111"/>
              <a:chOff x="0" y="0"/>
              <a:chExt cx="5124640" cy="915111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5124704" cy="915162"/>
              </a:xfrm>
              <a:custGeom>
                <a:avLst/>
                <a:gdLst/>
                <a:ahLst/>
                <a:cxnLst/>
                <a:rect r="r" b="b" t="t" l="l"/>
                <a:pathLst>
                  <a:path h="915162" w="5124704">
                    <a:moveTo>
                      <a:pt x="0" y="0"/>
                    </a:moveTo>
                    <a:lnTo>
                      <a:pt x="5124704" y="0"/>
                    </a:lnTo>
                    <a:lnTo>
                      <a:pt x="5124704" y="915162"/>
                    </a:lnTo>
                    <a:lnTo>
                      <a:pt x="0" y="915162"/>
                    </a:lnTo>
                    <a:close/>
                  </a:path>
                </a:pathLst>
              </a:custGeom>
              <a:solidFill>
                <a:srgbClr val="06B6D4"/>
              </a:solidFill>
            </p:spPr>
          </p:sp>
        </p:grpSp>
        <p:sp>
          <p:nvSpPr>
            <p:cNvPr name="TextBox 43" id="43"/>
            <p:cNvSpPr txBox="true"/>
            <p:nvPr/>
          </p:nvSpPr>
          <p:spPr>
            <a:xfrm rot="0">
              <a:off x="121920" y="169278"/>
              <a:ext cx="4880800" cy="5750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01"/>
                </a:lnSpc>
              </a:pPr>
              <a:r>
                <a:rPr lang="en-US" sz="1501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MESSAGES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7233560" y="8192314"/>
            <a:ext cx="3843480" cy="686333"/>
            <a:chOff x="0" y="0"/>
            <a:chExt cx="5124640" cy="915111"/>
          </a:xfrm>
        </p:grpSpPr>
        <p:grpSp>
          <p:nvGrpSpPr>
            <p:cNvPr name="Group 45" id="45"/>
            <p:cNvGrpSpPr/>
            <p:nvPr/>
          </p:nvGrpSpPr>
          <p:grpSpPr>
            <a:xfrm rot="0">
              <a:off x="0" y="0"/>
              <a:ext cx="5124640" cy="915111"/>
              <a:chOff x="0" y="0"/>
              <a:chExt cx="5124640" cy="915111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5124704" cy="915162"/>
              </a:xfrm>
              <a:custGeom>
                <a:avLst/>
                <a:gdLst/>
                <a:ahLst/>
                <a:cxnLst/>
                <a:rect r="r" b="b" t="t" l="l"/>
                <a:pathLst>
                  <a:path h="915162" w="5124704">
                    <a:moveTo>
                      <a:pt x="0" y="0"/>
                    </a:moveTo>
                    <a:lnTo>
                      <a:pt x="5124704" y="0"/>
                    </a:lnTo>
                    <a:lnTo>
                      <a:pt x="5124704" y="915162"/>
                    </a:lnTo>
                    <a:lnTo>
                      <a:pt x="0" y="915162"/>
                    </a:lnTo>
                    <a:close/>
                  </a:path>
                </a:pathLst>
              </a:custGeom>
              <a:solidFill>
                <a:srgbClr val="7C3AED"/>
              </a:solidFill>
            </p:spPr>
          </p:sp>
        </p:grpSp>
        <p:sp>
          <p:nvSpPr>
            <p:cNvPr name="TextBox 47" id="47"/>
            <p:cNvSpPr txBox="true"/>
            <p:nvPr/>
          </p:nvSpPr>
          <p:spPr>
            <a:xfrm rot="0">
              <a:off x="121920" y="169278"/>
              <a:ext cx="4880800" cy="5750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01"/>
                </a:lnSpc>
              </a:pPr>
              <a:r>
                <a:rPr lang="en-US" sz="1501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SAVED_LISTINGS</a:t>
              </a:r>
            </a:p>
          </p:txBody>
        </p:sp>
      </p:grpSp>
      <p:sp>
        <p:nvSpPr>
          <p:cNvPr name="TextBox 48" id="48"/>
          <p:cNvSpPr txBox="true"/>
          <p:nvPr/>
        </p:nvSpPr>
        <p:spPr>
          <a:xfrm rot="0">
            <a:off x="8821602" y="4730138"/>
            <a:ext cx="228924" cy="280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1"/>
              </a:lnSpc>
            </a:pPr>
            <a:r>
              <a:rPr lang="en-US" sz="1351" b="true">
                <a:solidFill>
                  <a:srgbClr val="F9731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8821602" y="5673104"/>
            <a:ext cx="228924" cy="280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1"/>
              </a:lnSpc>
            </a:pPr>
            <a:r>
              <a:rPr lang="en-US" sz="1351" b="true">
                <a:solidFill>
                  <a:srgbClr val="F9731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</a:t>
            </a:r>
          </a:p>
        </p:txBody>
      </p:sp>
      <p:sp>
        <p:nvSpPr>
          <p:cNvPr name="AutoShape 50" id="50"/>
          <p:cNvSpPr/>
          <p:nvPr/>
        </p:nvSpPr>
        <p:spPr>
          <a:xfrm flipH="true" flipV="true">
            <a:off x="9155301" y="4739663"/>
            <a:ext cx="0" cy="1213743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51" id="51"/>
          <p:cNvSpPr/>
          <p:nvPr/>
        </p:nvSpPr>
        <p:spPr>
          <a:xfrm flipH="true">
            <a:off x="11077041" y="3081199"/>
            <a:ext cx="3012836" cy="1315297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52" id="52"/>
          <p:cNvSpPr/>
          <p:nvPr/>
        </p:nvSpPr>
        <p:spPr>
          <a:xfrm flipH="true">
            <a:off x="9155301" y="3207062"/>
            <a:ext cx="0" cy="846267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arrow" len="sm" w="med"/>
            <a:tailEnd type="none" len="sm" w="sm"/>
          </a:ln>
        </p:spPr>
      </p:sp>
      <p:sp>
        <p:nvSpPr>
          <p:cNvPr name="AutoShape 53" id="53"/>
          <p:cNvSpPr/>
          <p:nvPr/>
        </p:nvSpPr>
        <p:spPr>
          <a:xfrm flipH="true" flipV="true">
            <a:off x="2244922" y="4739663"/>
            <a:ext cx="5618587" cy="1213743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54" id="54"/>
          <p:cNvSpPr/>
          <p:nvPr/>
        </p:nvSpPr>
        <p:spPr>
          <a:xfrm>
            <a:off x="4166662" y="4396496"/>
            <a:ext cx="3066899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arrow" len="sm" w="med"/>
            <a:tailEnd type="none" len="sm" w="sm"/>
          </a:ln>
        </p:spPr>
      </p:sp>
      <p:sp>
        <p:nvSpPr>
          <p:cNvPr name="AutoShape 55" id="55"/>
          <p:cNvSpPr/>
          <p:nvPr/>
        </p:nvSpPr>
        <p:spPr>
          <a:xfrm>
            <a:off x="4166662" y="6296572"/>
            <a:ext cx="3066899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arrow" len="sm" w="med"/>
            <a:tailEnd type="none" len="sm" w="sm"/>
          </a:ln>
        </p:spPr>
      </p:sp>
      <p:sp>
        <p:nvSpPr>
          <p:cNvPr name="AutoShape 56" id="56"/>
          <p:cNvSpPr/>
          <p:nvPr/>
        </p:nvSpPr>
        <p:spPr>
          <a:xfrm flipV="true">
            <a:off x="16011617" y="6639739"/>
            <a:ext cx="0" cy="967869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arrow" len="sm" w="med"/>
            <a:tailEnd type="none" len="sm" w="sm"/>
          </a:ln>
        </p:spPr>
      </p:sp>
      <p:sp>
        <p:nvSpPr>
          <p:cNvPr name="AutoShape 57" id="57"/>
          <p:cNvSpPr/>
          <p:nvPr/>
        </p:nvSpPr>
        <p:spPr>
          <a:xfrm>
            <a:off x="10523416" y="4739663"/>
            <a:ext cx="5488202" cy="1213743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58" id="58"/>
          <p:cNvSpPr/>
          <p:nvPr/>
        </p:nvSpPr>
        <p:spPr>
          <a:xfrm flipH="true">
            <a:off x="2140993" y="6639739"/>
            <a:ext cx="5748385" cy="1562762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arrow" len="sm" w="med"/>
            <a:tailEnd type="arrow" len="sm" w="med"/>
          </a:ln>
        </p:spPr>
      </p:sp>
      <p:sp>
        <p:nvSpPr>
          <p:cNvPr name="TextBox 59" id="59"/>
          <p:cNvSpPr txBox="true"/>
          <p:nvPr/>
        </p:nvSpPr>
        <p:spPr>
          <a:xfrm rot="0">
            <a:off x="13860953" y="3144064"/>
            <a:ext cx="228924" cy="280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1"/>
              </a:lnSpc>
            </a:pPr>
            <a:r>
              <a:rPr lang="en-US" sz="1351" b="true">
                <a:solidFill>
                  <a:srgbClr val="F9731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1077041" y="4116194"/>
            <a:ext cx="228924" cy="280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1"/>
              </a:lnSpc>
            </a:pPr>
            <a:r>
              <a:rPr lang="en-US" sz="1351" b="true">
                <a:solidFill>
                  <a:srgbClr val="F9731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9269763" y="3753978"/>
            <a:ext cx="228924" cy="280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1"/>
              </a:lnSpc>
            </a:pPr>
            <a:r>
              <a:rPr lang="en-US" sz="1351" b="true">
                <a:solidFill>
                  <a:srgbClr val="F9731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9269763" y="3197537"/>
            <a:ext cx="228924" cy="280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1"/>
              </a:lnSpc>
            </a:pPr>
            <a:r>
              <a:rPr lang="en-US" sz="1351" b="true">
                <a:solidFill>
                  <a:srgbClr val="F9731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7634585" y="5673104"/>
            <a:ext cx="228924" cy="280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1"/>
              </a:lnSpc>
            </a:pPr>
            <a:r>
              <a:rPr lang="en-US" sz="1351" b="true">
                <a:solidFill>
                  <a:srgbClr val="F9731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2335444" y="4730138"/>
            <a:ext cx="228924" cy="280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1"/>
              </a:lnSpc>
            </a:pPr>
            <a:r>
              <a:rPr lang="en-US" sz="1351" b="true">
                <a:solidFill>
                  <a:srgbClr val="F9731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7004637" y="4423166"/>
            <a:ext cx="228924" cy="280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1"/>
              </a:lnSpc>
            </a:pPr>
            <a:r>
              <a:rPr lang="en-US" sz="1351" b="true">
                <a:solidFill>
                  <a:srgbClr val="F9731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4166662" y="4478411"/>
            <a:ext cx="228924" cy="280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1"/>
              </a:lnSpc>
            </a:pPr>
            <a:r>
              <a:rPr lang="en-US" sz="1351" b="true">
                <a:solidFill>
                  <a:srgbClr val="F9731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7004637" y="6359437"/>
            <a:ext cx="228924" cy="280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1"/>
              </a:lnSpc>
            </a:pPr>
            <a:r>
              <a:rPr lang="en-US" sz="1351" b="true">
                <a:solidFill>
                  <a:srgbClr val="F9731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4166662" y="6359437"/>
            <a:ext cx="228924" cy="280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1"/>
              </a:lnSpc>
            </a:pPr>
            <a:r>
              <a:rPr lang="en-US" sz="1351" b="true">
                <a:solidFill>
                  <a:srgbClr val="F9731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5686064" y="7335064"/>
            <a:ext cx="228924" cy="280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1"/>
              </a:lnSpc>
            </a:pPr>
            <a:r>
              <a:rPr lang="en-US" sz="1351" b="true">
                <a:solidFill>
                  <a:srgbClr val="F9731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5686064" y="6630214"/>
            <a:ext cx="228924" cy="280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1"/>
              </a:lnSpc>
            </a:pPr>
            <a:r>
              <a:rPr lang="en-US" sz="1351" b="true">
                <a:solidFill>
                  <a:srgbClr val="F9731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7960503" y="6675916"/>
            <a:ext cx="228924" cy="280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1"/>
              </a:lnSpc>
            </a:pPr>
            <a:r>
              <a:rPr lang="en-US" sz="1351" b="true">
                <a:solidFill>
                  <a:srgbClr val="F9731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2244922" y="7962620"/>
            <a:ext cx="228924" cy="280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1"/>
              </a:lnSpc>
            </a:pPr>
            <a:r>
              <a:rPr lang="en-US" sz="1351" b="true">
                <a:solidFill>
                  <a:srgbClr val="F9731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0294492" y="4730138"/>
            <a:ext cx="228924" cy="280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1"/>
              </a:lnSpc>
            </a:pPr>
            <a:r>
              <a:rPr lang="en-US" sz="1351" b="true">
                <a:solidFill>
                  <a:srgbClr val="F9731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16117640" y="5673104"/>
            <a:ext cx="228924" cy="280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1"/>
              </a:lnSpc>
            </a:pPr>
            <a:r>
              <a:rPr lang="en-US" sz="1351" b="true">
                <a:solidFill>
                  <a:srgbClr val="F9731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</a:t>
            </a:r>
          </a:p>
        </p:txBody>
      </p:sp>
      <p:sp>
        <p:nvSpPr>
          <p:cNvPr name="AutoShape 75" id="75"/>
          <p:cNvSpPr/>
          <p:nvPr/>
        </p:nvSpPr>
        <p:spPr>
          <a:xfrm flipH="true" flipV="true">
            <a:off x="9155301" y="6639739"/>
            <a:ext cx="0" cy="1552575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arrow" len="sm" w="med"/>
            <a:tailEnd type="arrow" len="sm" w="med"/>
          </a:ln>
        </p:spPr>
      </p:sp>
      <p:sp>
        <p:nvSpPr>
          <p:cNvPr name="TextBox 76" id="76"/>
          <p:cNvSpPr txBox="true"/>
          <p:nvPr/>
        </p:nvSpPr>
        <p:spPr>
          <a:xfrm rot="0">
            <a:off x="9227554" y="6630214"/>
            <a:ext cx="228924" cy="280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1"/>
              </a:lnSpc>
            </a:pPr>
            <a:r>
              <a:rPr lang="en-US" sz="1351" b="true">
                <a:solidFill>
                  <a:srgbClr val="F9731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9227554" y="7922199"/>
            <a:ext cx="228924" cy="280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1"/>
              </a:lnSpc>
            </a:pPr>
            <a:r>
              <a:rPr lang="en-US" sz="1351" b="true">
                <a:solidFill>
                  <a:srgbClr val="F9731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</a:t>
            </a:r>
          </a:p>
        </p:txBody>
      </p:sp>
      <p:grpSp>
        <p:nvGrpSpPr>
          <p:cNvPr name="Group 78" id="78"/>
          <p:cNvGrpSpPr/>
          <p:nvPr/>
        </p:nvGrpSpPr>
        <p:grpSpPr>
          <a:xfrm rot="0">
            <a:off x="14089877" y="9198224"/>
            <a:ext cx="3843480" cy="512207"/>
            <a:chOff x="0" y="0"/>
            <a:chExt cx="5124641" cy="682942"/>
          </a:xfrm>
        </p:grpSpPr>
        <p:grpSp>
          <p:nvGrpSpPr>
            <p:cNvPr name="Group 79" id="79"/>
            <p:cNvGrpSpPr/>
            <p:nvPr/>
          </p:nvGrpSpPr>
          <p:grpSpPr>
            <a:xfrm rot="0">
              <a:off x="0" y="0"/>
              <a:ext cx="5124640" cy="682942"/>
              <a:chOff x="0" y="0"/>
              <a:chExt cx="5124640" cy="682942"/>
            </a:xfrm>
          </p:grpSpPr>
          <p:sp>
            <p:nvSpPr>
              <p:cNvPr name="Freeform 80" id="80"/>
              <p:cNvSpPr/>
              <p:nvPr/>
            </p:nvSpPr>
            <p:spPr>
              <a:xfrm flipH="false" flipV="false" rot="0">
                <a:off x="0" y="0"/>
                <a:ext cx="5124704" cy="682993"/>
              </a:xfrm>
              <a:custGeom>
                <a:avLst/>
                <a:gdLst/>
                <a:ahLst/>
                <a:cxnLst/>
                <a:rect r="r" b="b" t="t" l="l"/>
                <a:pathLst>
                  <a:path h="682993" w="5124704">
                    <a:moveTo>
                      <a:pt x="0" y="0"/>
                    </a:moveTo>
                    <a:lnTo>
                      <a:pt x="5124704" y="0"/>
                    </a:lnTo>
                    <a:lnTo>
                      <a:pt x="5124704" y="682993"/>
                    </a:lnTo>
                    <a:lnTo>
                      <a:pt x="0" y="682993"/>
                    </a:lnTo>
                    <a:close/>
                  </a:path>
                </a:pathLst>
              </a:custGeom>
              <a:solidFill>
                <a:srgbClr val="7C3AED"/>
              </a:solidFill>
            </p:spPr>
          </p:sp>
        </p:grpSp>
        <p:sp>
          <p:nvSpPr>
            <p:cNvPr name="TextBox 81" id="81"/>
            <p:cNvSpPr txBox="true"/>
            <p:nvPr/>
          </p:nvSpPr>
          <p:spPr>
            <a:xfrm rot="0">
              <a:off x="121920" y="169278"/>
              <a:ext cx="4880800" cy="342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01"/>
                </a:lnSpc>
              </a:pPr>
              <a:r>
                <a:rPr lang="en-US" sz="1501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NOTIFICATIONS</a:t>
              </a:r>
            </a:p>
          </p:txBody>
        </p:sp>
      </p:grpSp>
      <p:sp>
        <p:nvSpPr>
          <p:cNvPr name="AutoShape 82" id="82"/>
          <p:cNvSpPr/>
          <p:nvPr/>
        </p:nvSpPr>
        <p:spPr>
          <a:xfrm flipH="true" flipV="true">
            <a:off x="11077041" y="6296572"/>
            <a:ext cx="3012836" cy="3157756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arrow" len="sm" w="med"/>
            <a:tailEnd type="none" len="sm" w="sm"/>
          </a:ln>
        </p:spPr>
      </p:sp>
      <p:sp>
        <p:nvSpPr>
          <p:cNvPr name="TextBox 83" id="83"/>
          <p:cNvSpPr txBox="true"/>
          <p:nvPr/>
        </p:nvSpPr>
        <p:spPr>
          <a:xfrm rot="0">
            <a:off x="13807128" y="9169649"/>
            <a:ext cx="228924" cy="280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1"/>
              </a:lnSpc>
            </a:pPr>
            <a:r>
              <a:rPr lang="en-US" sz="1351" b="true">
                <a:solidFill>
                  <a:srgbClr val="F9731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11077041" y="6359437"/>
            <a:ext cx="228924" cy="280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1"/>
              </a:lnSpc>
            </a:pPr>
            <a:r>
              <a:rPr lang="en-US" sz="1351" b="true">
                <a:solidFill>
                  <a:srgbClr val="F9731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725" y="0"/>
            <a:ext cx="18297725" cy="10295039"/>
            <a:chOff x="0" y="0"/>
            <a:chExt cx="24396967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97725" cy="1126636"/>
            <a:chOff x="0" y="0"/>
            <a:chExt cx="24396967" cy="150218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96954" cy="1502207"/>
            </a:xfrm>
            <a:custGeom>
              <a:avLst/>
              <a:gdLst/>
              <a:ahLst/>
              <a:cxnLst/>
              <a:rect r="r" b="b" t="t" l="l"/>
              <a:pathLst>
                <a:path h="1502207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502207"/>
                  </a:lnTo>
                  <a:lnTo>
                    <a:pt x="0" y="1502207"/>
                  </a:lnTo>
                  <a:close/>
                </a:path>
              </a:pathLst>
            </a:custGeom>
            <a:solidFill>
              <a:srgbClr val="256DCA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640509" y="-61446"/>
            <a:ext cx="16975522" cy="955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64"/>
              </a:lnSpc>
            </a:pPr>
            <a:r>
              <a:rPr lang="en-US" sz="4803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Database Design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51377" y="621382"/>
            <a:ext cx="16975522" cy="505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BFD7FF"/>
                </a:solidFill>
                <a:latin typeface="Calibri (MS)"/>
                <a:ea typeface="Calibri (MS)"/>
                <a:cs typeface="Calibri (MS)"/>
                <a:sym typeface="Calibri (MS)"/>
              </a:rPr>
              <a:t>MySQL schema — tables, fields, and data types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383781" y="1223943"/>
            <a:ext cx="8539162" cy="1325604"/>
            <a:chOff x="0" y="0"/>
            <a:chExt cx="11385550" cy="176747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9050" y="17180"/>
              <a:ext cx="11347450" cy="1733101"/>
            </a:xfrm>
            <a:custGeom>
              <a:avLst/>
              <a:gdLst/>
              <a:ahLst/>
              <a:cxnLst/>
              <a:rect r="r" b="b" t="t" l="l"/>
              <a:pathLst>
                <a:path h="1733101" w="11347450">
                  <a:moveTo>
                    <a:pt x="0" y="0"/>
                  </a:moveTo>
                  <a:lnTo>
                    <a:pt x="11347450" y="0"/>
                  </a:lnTo>
                  <a:lnTo>
                    <a:pt x="11347450" y="1733101"/>
                  </a:lnTo>
                  <a:lnTo>
                    <a:pt x="0" y="1733101"/>
                  </a:lnTo>
                  <a:close/>
                </a:path>
              </a:pathLst>
            </a:custGeom>
            <a:solidFill>
              <a:srgbClr val="1E2D40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385550" cy="1767460"/>
            </a:xfrm>
            <a:custGeom>
              <a:avLst/>
              <a:gdLst/>
              <a:ahLst/>
              <a:cxnLst/>
              <a:rect r="r" b="b" t="t" l="l"/>
              <a:pathLst>
                <a:path h="1767460" w="11385550">
                  <a:moveTo>
                    <a:pt x="19050" y="0"/>
                  </a:moveTo>
                  <a:lnTo>
                    <a:pt x="11366500" y="0"/>
                  </a:lnTo>
                  <a:cubicBezTo>
                    <a:pt x="11377041" y="0"/>
                    <a:pt x="11385550" y="7674"/>
                    <a:pt x="11385550" y="17180"/>
                  </a:cubicBezTo>
                  <a:lnTo>
                    <a:pt x="11385550" y="1750281"/>
                  </a:lnTo>
                  <a:cubicBezTo>
                    <a:pt x="11385550" y="1759787"/>
                    <a:pt x="11377041" y="1767460"/>
                    <a:pt x="11366500" y="1767460"/>
                  </a:cubicBezTo>
                  <a:lnTo>
                    <a:pt x="19050" y="1767460"/>
                  </a:lnTo>
                  <a:cubicBezTo>
                    <a:pt x="8509" y="1767460"/>
                    <a:pt x="0" y="1759787"/>
                    <a:pt x="0" y="1750281"/>
                  </a:cubicBezTo>
                  <a:lnTo>
                    <a:pt x="0" y="17180"/>
                  </a:lnTo>
                  <a:cubicBezTo>
                    <a:pt x="0" y="7674"/>
                    <a:pt x="8509" y="0"/>
                    <a:pt x="19050" y="0"/>
                  </a:cubicBezTo>
                  <a:moveTo>
                    <a:pt x="19050" y="34360"/>
                  </a:moveTo>
                  <a:lnTo>
                    <a:pt x="19050" y="17180"/>
                  </a:lnTo>
                  <a:lnTo>
                    <a:pt x="38100" y="17180"/>
                  </a:lnTo>
                  <a:lnTo>
                    <a:pt x="38100" y="1750281"/>
                  </a:lnTo>
                  <a:lnTo>
                    <a:pt x="19050" y="1750281"/>
                  </a:lnTo>
                  <a:lnTo>
                    <a:pt x="19050" y="1733101"/>
                  </a:lnTo>
                  <a:lnTo>
                    <a:pt x="11366500" y="1733101"/>
                  </a:lnTo>
                  <a:lnTo>
                    <a:pt x="11366500" y="1750281"/>
                  </a:lnTo>
                  <a:lnTo>
                    <a:pt x="11347450" y="1750281"/>
                  </a:lnTo>
                  <a:lnTo>
                    <a:pt x="11347450" y="17180"/>
                  </a:lnTo>
                  <a:lnTo>
                    <a:pt x="11366500" y="17180"/>
                  </a:lnTo>
                  <a:lnTo>
                    <a:pt x="11366500" y="34360"/>
                  </a:lnTo>
                  <a:lnTo>
                    <a:pt x="19050" y="34360"/>
                  </a:lnTo>
                  <a:close/>
                </a:path>
              </a:pathLst>
            </a:custGeom>
            <a:solidFill>
              <a:srgbClr val="256DCA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398078" y="1238250"/>
            <a:ext cx="8510568" cy="439255"/>
            <a:chOff x="0" y="0"/>
            <a:chExt cx="11347425" cy="58567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347450" cy="585724"/>
            </a:xfrm>
            <a:custGeom>
              <a:avLst/>
              <a:gdLst/>
              <a:ahLst/>
              <a:cxnLst/>
              <a:rect r="r" b="b" t="t" l="l"/>
              <a:pathLst>
                <a:path h="585724" w="11347450">
                  <a:moveTo>
                    <a:pt x="0" y="0"/>
                  </a:moveTo>
                  <a:lnTo>
                    <a:pt x="11347450" y="0"/>
                  </a:lnTo>
                  <a:lnTo>
                    <a:pt x="11347450" y="585724"/>
                  </a:lnTo>
                  <a:lnTo>
                    <a:pt x="0" y="585724"/>
                  </a:lnTo>
                  <a:close/>
                </a:path>
              </a:pathLst>
            </a:custGeom>
            <a:solidFill>
              <a:srgbClr val="256DCA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626783" y="1310297"/>
            <a:ext cx="8053159" cy="294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USERS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26783" y="1735826"/>
            <a:ext cx="8053159" cy="41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sz="1275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id INT PK  |  name VARCHAR(100)  |  email VARCHAR(150) UNIQUE  |  password VARCHAR(255)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26783" y="2147630"/>
            <a:ext cx="8053159" cy="41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sz="1275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bio TEXT  |  city, barangay VARCHAR  |  role ENUM  |  is_verified TINYINT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398078" y="2679497"/>
            <a:ext cx="8539162" cy="1325604"/>
            <a:chOff x="0" y="0"/>
            <a:chExt cx="11385550" cy="176747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19050" y="17180"/>
              <a:ext cx="11347450" cy="1733101"/>
            </a:xfrm>
            <a:custGeom>
              <a:avLst/>
              <a:gdLst/>
              <a:ahLst/>
              <a:cxnLst/>
              <a:rect r="r" b="b" t="t" l="l"/>
              <a:pathLst>
                <a:path h="1733101" w="11347450">
                  <a:moveTo>
                    <a:pt x="0" y="0"/>
                  </a:moveTo>
                  <a:lnTo>
                    <a:pt x="11347450" y="0"/>
                  </a:lnTo>
                  <a:lnTo>
                    <a:pt x="11347450" y="1733101"/>
                  </a:lnTo>
                  <a:lnTo>
                    <a:pt x="0" y="1733101"/>
                  </a:lnTo>
                  <a:close/>
                </a:path>
              </a:pathLst>
            </a:custGeom>
            <a:solidFill>
              <a:srgbClr val="1E2D40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385550" cy="1767460"/>
            </a:xfrm>
            <a:custGeom>
              <a:avLst/>
              <a:gdLst/>
              <a:ahLst/>
              <a:cxnLst/>
              <a:rect r="r" b="b" t="t" l="l"/>
              <a:pathLst>
                <a:path h="1767460" w="11385550">
                  <a:moveTo>
                    <a:pt x="19050" y="0"/>
                  </a:moveTo>
                  <a:lnTo>
                    <a:pt x="11366500" y="0"/>
                  </a:lnTo>
                  <a:cubicBezTo>
                    <a:pt x="11377041" y="0"/>
                    <a:pt x="11385550" y="7674"/>
                    <a:pt x="11385550" y="17180"/>
                  </a:cubicBezTo>
                  <a:lnTo>
                    <a:pt x="11385550" y="1750281"/>
                  </a:lnTo>
                  <a:cubicBezTo>
                    <a:pt x="11385550" y="1759787"/>
                    <a:pt x="11377041" y="1767460"/>
                    <a:pt x="11366500" y="1767460"/>
                  </a:cubicBezTo>
                  <a:lnTo>
                    <a:pt x="19050" y="1767460"/>
                  </a:lnTo>
                  <a:cubicBezTo>
                    <a:pt x="8509" y="1767460"/>
                    <a:pt x="0" y="1759787"/>
                    <a:pt x="0" y="1750281"/>
                  </a:cubicBezTo>
                  <a:lnTo>
                    <a:pt x="0" y="17180"/>
                  </a:lnTo>
                  <a:cubicBezTo>
                    <a:pt x="0" y="7674"/>
                    <a:pt x="8509" y="0"/>
                    <a:pt x="19050" y="0"/>
                  </a:cubicBezTo>
                  <a:moveTo>
                    <a:pt x="19050" y="34360"/>
                  </a:moveTo>
                  <a:lnTo>
                    <a:pt x="19050" y="17180"/>
                  </a:lnTo>
                  <a:lnTo>
                    <a:pt x="38100" y="17180"/>
                  </a:lnTo>
                  <a:lnTo>
                    <a:pt x="38100" y="1750281"/>
                  </a:lnTo>
                  <a:lnTo>
                    <a:pt x="19050" y="1750281"/>
                  </a:lnTo>
                  <a:lnTo>
                    <a:pt x="19050" y="1733101"/>
                  </a:lnTo>
                  <a:lnTo>
                    <a:pt x="11366500" y="1733101"/>
                  </a:lnTo>
                  <a:lnTo>
                    <a:pt x="11366500" y="1750281"/>
                  </a:lnTo>
                  <a:lnTo>
                    <a:pt x="11347450" y="1750281"/>
                  </a:lnTo>
                  <a:lnTo>
                    <a:pt x="11347450" y="17180"/>
                  </a:lnTo>
                  <a:lnTo>
                    <a:pt x="11366500" y="17180"/>
                  </a:lnTo>
                  <a:lnTo>
                    <a:pt x="11366500" y="34360"/>
                  </a:lnTo>
                  <a:lnTo>
                    <a:pt x="19050" y="34360"/>
                  </a:lnTo>
                  <a:close/>
                </a:path>
              </a:pathLst>
            </a:custGeom>
            <a:solidFill>
              <a:srgbClr val="06B6D4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412375" y="2693794"/>
            <a:ext cx="8510568" cy="439255"/>
            <a:chOff x="0" y="0"/>
            <a:chExt cx="11347425" cy="58567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347450" cy="585724"/>
            </a:xfrm>
            <a:custGeom>
              <a:avLst/>
              <a:gdLst/>
              <a:ahLst/>
              <a:cxnLst/>
              <a:rect r="r" b="b" t="t" l="l"/>
              <a:pathLst>
                <a:path h="585724" w="11347450">
                  <a:moveTo>
                    <a:pt x="0" y="0"/>
                  </a:moveTo>
                  <a:lnTo>
                    <a:pt x="11347450" y="0"/>
                  </a:lnTo>
                  <a:lnTo>
                    <a:pt x="11347450" y="585724"/>
                  </a:lnTo>
                  <a:lnTo>
                    <a:pt x="0" y="585724"/>
                  </a:lnTo>
                  <a:close/>
                </a:path>
              </a:pathLst>
            </a:custGeom>
            <a:solidFill>
              <a:srgbClr val="06B6D4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641080" y="2765850"/>
            <a:ext cx="8053159" cy="294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LISTINGS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41080" y="3191380"/>
            <a:ext cx="8053159" cy="41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sz="1275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id INT PK  |  user_id FK → users  |  category_id FK → categories  |  title VARCHAR(200)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41080" y="3603174"/>
            <a:ext cx="8053159" cy="41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sz="1275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price DECIMAL(10,2)  |  price_type ENUM  |  listing_type ENUM  |  status ENUM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398078" y="4154091"/>
            <a:ext cx="8539162" cy="1469908"/>
            <a:chOff x="0" y="0"/>
            <a:chExt cx="11385550" cy="1959877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11385550" cy="1959877"/>
              <a:chOff x="0" y="0"/>
              <a:chExt cx="11385550" cy="1959877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19050" y="19050"/>
                <a:ext cx="11347450" cy="1921764"/>
              </a:xfrm>
              <a:custGeom>
                <a:avLst/>
                <a:gdLst/>
                <a:ahLst/>
                <a:cxnLst/>
                <a:rect r="r" b="b" t="t" l="l"/>
                <a:pathLst>
                  <a:path h="1921764" w="11347450">
                    <a:moveTo>
                      <a:pt x="0" y="0"/>
                    </a:moveTo>
                    <a:lnTo>
                      <a:pt x="11347450" y="0"/>
                    </a:lnTo>
                    <a:lnTo>
                      <a:pt x="11347450" y="1921764"/>
                    </a:lnTo>
                    <a:lnTo>
                      <a:pt x="0" y="1921764"/>
                    </a:lnTo>
                    <a:close/>
                  </a:path>
                </a:pathLst>
              </a:custGeom>
              <a:solidFill>
                <a:srgbClr val="1E2D40"/>
              </a:solidFill>
            </p:spPr>
          </p:sp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11385550" cy="1959864"/>
              </a:xfrm>
              <a:custGeom>
                <a:avLst/>
                <a:gdLst/>
                <a:ahLst/>
                <a:cxnLst/>
                <a:rect r="r" b="b" t="t" l="l"/>
                <a:pathLst>
                  <a:path h="1959864" w="11385550">
                    <a:moveTo>
                      <a:pt x="19050" y="0"/>
                    </a:moveTo>
                    <a:lnTo>
                      <a:pt x="11366500" y="0"/>
                    </a:lnTo>
                    <a:cubicBezTo>
                      <a:pt x="11377041" y="0"/>
                      <a:pt x="11385550" y="8509"/>
                      <a:pt x="11385550" y="19050"/>
                    </a:cubicBezTo>
                    <a:lnTo>
                      <a:pt x="11385550" y="1940814"/>
                    </a:lnTo>
                    <a:cubicBezTo>
                      <a:pt x="11385550" y="1951355"/>
                      <a:pt x="11377041" y="1959864"/>
                      <a:pt x="11366500" y="1959864"/>
                    </a:cubicBezTo>
                    <a:lnTo>
                      <a:pt x="19050" y="1959864"/>
                    </a:lnTo>
                    <a:cubicBezTo>
                      <a:pt x="8509" y="1959864"/>
                      <a:pt x="0" y="1951355"/>
                      <a:pt x="0" y="1940814"/>
                    </a:cubicBezTo>
                    <a:lnTo>
                      <a:pt x="0" y="19050"/>
                    </a:lnTo>
                    <a:cubicBezTo>
                      <a:pt x="0" y="8509"/>
                      <a:pt x="8509" y="0"/>
                      <a:pt x="19050" y="0"/>
                    </a:cubicBezTo>
                    <a:moveTo>
                      <a:pt x="19050" y="38100"/>
                    </a:moveTo>
                    <a:lnTo>
                      <a:pt x="19050" y="19050"/>
                    </a:lnTo>
                    <a:lnTo>
                      <a:pt x="38100" y="19050"/>
                    </a:lnTo>
                    <a:lnTo>
                      <a:pt x="38100" y="1940814"/>
                    </a:lnTo>
                    <a:lnTo>
                      <a:pt x="19050" y="1940814"/>
                    </a:lnTo>
                    <a:lnTo>
                      <a:pt x="19050" y="1921764"/>
                    </a:lnTo>
                    <a:lnTo>
                      <a:pt x="11366500" y="1921764"/>
                    </a:lnTo>
                    <a:lnTo>
                      <a:pt x="11366500" y="1940814"/>
                    </a:lnTo>
                    <a:lnTo>
                      <a:pt x="11347450" y="1940814"/>
                    </a:lnTo>
                    <a:lnTo>
                      <a:pt x="11347450" y="19050"/>
                    </a:lnTo>
                    <a:lnTo>
                      <a:pt x="11366500" y="19050"/>
                    </a:lnTo>
                    <a:lnTo>
                      <a:pt x="11366500" y="38100"/>
                    </a:lnTo>
                    <a:lnTo>
                      <a:pt x="19050" y="38100"/>
                    </a:lnTo>
                    <a:close/>
                  </a:path>
                </a:pathLst>
              </a:custGeom>
              <a:solidFill>
                <a:srgbClr val="7C3AED"/>
              </a:solidFill>
            </p:spPr>
          </p:sp>
        </p:grpSp>
        <p:grpSp>
          <p:nvGrpSpPr>
            <p:cNvPr name="Group 28" id="28"/>
            <p:cNvGrpSpPr/>
            <p:nvPr/>
          </p:nvGrpSpPr>
          <p:grpSpPr>
            <a:xfrm rot="0">
              <a:off x="19063" y="19063"/>
              <a:ext cx="11347425" cy="585673"/>
              <a:chOff x="0" y="0"/>
              <a:chExt cx="11347425" cy="585673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11347450" cy="585724"/>
              </a:xfrm>
              <a:custGeom>
                <a:avLst/>
                <a:gdLst/>
                <a:ahLst/>
                <a:cxnLst/>
                <a:rect r="r" b="b" t="t" l="l"/>
                <a:pathLst>
                  <a:path h="585724" w="11347450">
                    <a:moveTo>
                      <a:pt x="0" y="0"/>
                    </a:moveTo>
                    <a:lnTo>
                      <a:pt x="11347450" y="0"/>
                    </a:lnTo>
                    <a:lnTo>
                      <a:pt x="11347450" y="585724"/>
                    </a:lnTo>
                    <a:lnTo>
                      <a:pt x="0" y="585724"/>
                    </a:lnTo>
                    <a:close/>
                  </a:path>
                </a:pathLst>
              </a:custGeom>
              <a:solidFill>
                <a:srgbClr val="7C3AED"/>
              </a:solidFill>
            </p:spPr>
          </p:sp>
        </p:grpSp>
        <p:sp>
          <p:nvSpPr>
            <p:cNvPr name="TextBox 30" id="30"/>
            <p:cNvSpPr txBox="true"/>
            <p:nvPr/>
          </p:nvSpPr>
          <p:spPr>
            <a:xfrm rot="0">
              <a:off x="324002" y="124650"/>
              <a:ext cx="10737545" cy="3825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81"/>
                </a:lnSpc>
              </a:pPr>
              <a:r>
                <a:rPr lang="en-US" sz="1651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CATEGORIES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324002" y="692023"/>
              <a:ext cx="10737545" cy="5472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531"/>
                </a:lnSpc>
              </a:pPr>
              <a:r>
                <a:rPr lang="en-US" sz="1275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id INT PK  |  name VARCHAR UNIQUE  |  slug VARCHAR  |  icon VARCHAR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398078" y="5746385"/>
            <a:ext cx="8539162" cy="1469908"/>
            <a:chOff x="0" y="0"/>
            <a:chExt cx="11385550" cy="1959877"/>
          </a:xfrm>
        </p:grpSpPr>
        <p:grpSp>
          <p:nvGrpSpPr>
            <p:cNvPr name="Group 33" id="33"/>
            <p:cNvGrpSpPr/>
            <p:nvPr/>
          </p:nvGrpSpPr>
          <p:grpSpPr>
            <a:xfrm rot="0">
              <a:off x="0" y="0"/>
              <a:ext cx="11385550" cy="1959877"/>
              <a:chOff x="0" y="0"/>
              <a:chExt cx="11385550" cy="1959877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19050" y="19050"/>
                <a:ext cx="11347450" cy="1921764"/>
              </a:xfrm>
              <a:custGeom>
                <a:avLst/>
                <a:gdLst/>
                <a:ahLst/>
                <a:cxnLst/>
                <a:rect r="r" b="b" t="t" l="l"/>
                <a:pathLst>
                  <a:path h="1921764" w="11347450">
                    <a:moveTo>
                      <a:pt x="0" y="0"/>
                    </a:moveTo>
                    <a:lnTo>
                      <a:pt x="11347450" y="0"/>
                    </a:lnTo>
                    <a:lnTo>
                      <a:pt x="11347450" y="1921764"/>
                    </a:lnTo>
                    <a:lnTo>
                      <a:pt x="0" y="1921764"/>
                    </a:lnTo>
                    <a:close/>
                  </a:path>
                </a:pathLst>
              </a:custGeom>
              <a:solidFill>
                <a:srgbClr val="1E2D40"/>
              </a:solidFill>
            </p:spPr>
          </p:sp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11385550" cy="1959864"/>
              </a:xfrm>
              <a:custGeom>
                <a:avLst/>
                <a:gdLst/>
                <a:ahLst/>
                <a:cxnLst/>
                <a:rect r="r" b="b" t="t" l="l"/>
                <a:pathLst>
                  <a:path h="1959864" w="11385550">
                    <a:moveTo>
                      <a:pt x="19050" y="0"/>
                    </a:moveTo>
                    <a:lnTo>
                      <a:pt x="11366500" y="0"/>
                    </a:lnTo>
                    <a:cubicBezTo>
                      <a:pt x="11377041" y="0"/>
                      <a:pt x="11385550" y="8509"/>
                      <a:pt x="11385550" y="19050"/>
                    </a:cubicBezTo>
                    <a:lnTo>
                      <a:pt x="11385550" y="1940814"/>
                    </a:lnTo>
                    <a:cubicBezTo>
                      <a:pt x="11385550" y="1951355"/>
                      <a:pt x="11377041" y="1959864"/>
                      <a:pt x="11366500" y="1959864"/>
                    </a:cubicBezTo>
                    <a:lnTo>
                      <a:pt x="19050" y="1959864"/>
                    </a:lnTo>
                    <a:cubicBezTo>
                      <a:pt x="8509" y="1959864"/>
                      <a:pt x="0" y="1951355"/>
                      <a:pt x="0" y="1940814"/>
                    </a:cubicBezTo>
                    <a:lnTo>
                      <a:pt x="0" y="19050"/>
                    </a:lnTo>
                    <a:cubicBezTo>
                      <a:pt x="0" y="8509"/>
                      <a:pt x="8509" y="0"/>
                      <a:pt x="19050" y="0"/>
                    </a:cubicBezTo>
                    <a:moveTo>
                      <a:pt x="19050" y="38100"/>
                    </a:moveTo>
                    <a:lnTo>
                      <a:pt x="19050" y="19050"/>
                    </a:lnTo>
                    <a:lnTo>
                      <a:pt x="38100" y="19050"/>
                    </a:lnTo>
                    <a:lnTo>
                      <a:pt x="38100" y="1940814"/>
                    </a:lnTo>
                    <a:lnTo>
                      <a:pt x="19050" y="1940814"/>
                    </a:lnTo>
                    <a:lnTo>
                      <a:pt x="19050" y="1921764"/>
                    </a:lnTo>
                    <a:lnTo>
                      <a:pt x="11366500" y="1921764"/>
                    </a:lnTo>
                    <a:lnTo>
                      <a:pt x="11366500" y="1940814"/>
                    </a:lnTo>
                    <a:lnTo>
                      <a:pt x="11347450" y="1940814"/>
                    </a:lnTo>
                    <a:lnTo>
                      <a:pt x="11347450" y="19050"/>
                    </a:lnTo>
                    <a:lnTo>
                      <a:pt x="11366500" y="19050"/>
                    </a:lnTo>
                    <a:lnTo>
                      <a:pt x="11366500" y="38100"/>
                    </a:lnTo>
                    <a:lnTo>
                      <a:pt x="19050" y="38100"/>
                    </a:lnTo>
                    <a:close/>
                  </a:path>
                </a:pathLst>
              </a:custGeom>
              <a:solidFill>
                <a:srgbClr val="64748B"/>
              </a:solidFill>
            </p:spPr>
          </p:sp>
        </p:grpSp>
        <p:grpSp>
          <p:nvGrpSpPr>
            <p:cNvPr name="Group 36" id="36"/>
            <p:cNvGrpSpPr/>
            <p:nvPr/>
          </p:nvGrpSpPr>
          <p:grpSpPr>
            <a:xfrm rot="0">
              <a:off x="19063" y="19063"/>
              <a:ext cx="11347425" cy="585673"/>
              <a:chOff x="0" y="0"/>
              <a:chExt cx="11347425" cy="585673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11347450" cy="585724"/>
              </a:xfrm>
              <a:custGeom>
                <a:avLst/>
                <a:gdLst/>
                <a:ahLst/>
                <a:cxnLst/>
                <a:rect r="r" b="b" t="t" l="l"/>
                <a:pathLst>
                  <a:path h="585724" w="11347450">
                    <a:moveTo>
                      <a:pt x="0" y="0"/>
                    </a:moveTo>
                    <a:lnTo>
                      <a:pt x="11347450" y="0"/>
                    </a:lnTo>
                    <a:lnTo>
                      <a:pt x="11347450" y="585724"/>
                    </a:lnTo>
                    <a:lnTo>
                      <a:pt x="0" y="585724"/>
                    </a:lnTo>
                    <a:close/>
                  </a:path>
                </a:pathLst>
              </a:custGeom>
              <a:solidFill>
                <a:srgbClr val="64748B"/>
              </a:solidFill>
            </p:spPr>
          </p:sp>
        </p:grpSp>
        <p:sp>
          <p:nvSpPr>
            <p:cNvPr name="TextBox 38" id="38"/>
            <p:cNvSpPr txBox="true"/>
            <p:nvPr/>
          </p:nvSpPr>
          <p:spPr>
            <a:xfrm rot="0">
              <a:off x="324002" y="124663"/>
              <a:ext cx="10737545" cy="3825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81"/>
                </a:lnSpc>
              </a:pPr>
              <a:r>
                <a:rPr lang="en-US" sz="1651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LISTING_IMAGES</a:t>
              </a:r>
            </a:p>
          </p:txBody>
        </p:sp>
        <p:sp>
          <p:nvSpPr>
            <p:cNvPr name="TextBox 39" id="39"/>
            <p:cNvSpPr txBox="true"/>
            <p:nvPr/>
          </p:nvSpPr>
          <p:spPr>
            <a:xfrm rot="0">
              <a:off x="324002" y="692036"/>
              <a:ext cx="10737545" cy="5472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531"/>
                </a:lnSpc>
              </a:pPr>
              <a:r>
                <a:rPr lang="en-US" sz="1275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id INT PK  |  listing_id FK → listings  |  image_url VARCHAR  |  is_primary TINYINT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412375" y="7330592"/>
            <a:ext cx="8539162" cy="1263000"/>
            <a:chOff x="0" y="0"/>
            <a:chExt cx="11385550" cy="1684001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19050" y="16368"/>
              <a:ext cx="11347450" cy="1651253"/>
            </a:xfrm>
            <a:custGeom>
              <a:avLst/>
              <a:gdLst/>
              <a:ahLst/>
              <a:cxnLst/>
              <a:rect r="r" b="b" t="t" l="l"/>
              <a:pathLst>
                <a:path h="1651253" w="11347450">
                  <a:moveTo>
                    <a:pt x="0" y="0"/>
                  </a:moveTo>
                  <a:lnTo>
                    <a:pt x="11347450" y="0"/>
                  </a:lnTo>
                  <a:lnTo>
                    <a:pt x="11347450" y="1651253"/>
                  </a:lnTo>
                  <a:lnTo>
                    <a:pt x="0" y="1651253"/>
                  </a:lnTo>
                  <a:close/>
                </a:path>
              </a:pathLst>
            </a:custGeom>
            <a:solidFill>
              <a:srgbClr val="1E2D40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1385550" cy="1683990"/>
            </a:xfrm>
            <a:custGeom>
              <a:avLst/>
              <a:gdLst/>
              <a:ahLst/>
              <a:cxnLst/>
              <a:rect r="r" b="b" t="t" l="l"/>
              <a:pathLst>
                <a:path h="1683990" w="11385550">
                  <a:moveTo>
                    <a:pt x="19050" y="0"/>
                  </a:moveTo>
                  <a:lnTo>
                    <a:pt x="11366500" y="0"/>
                  </a:lnTo>
                  <a:cubicBezTo>
                    <a:pt x="11377041" y="0"/>
                    <a:pt x="11385550" y="7311"/>
                    <a:pt x="11385550" y="16368"/>
                  </a:cubicBezTo>
                  <a:lnTo>
                    <a:pt x="11385550" y="1667621"/>
                  </a:lnTo>
                  <a:cubicBezTo>
                    <a:pt x="11385550" y="1676678"/>
                    <a:pt x="11377041" y="1683990"/>
                    <a:pt x="11366500" y="1683990"/>
                  </a:cubicBezTo>
                  <a:lnTo>
                    <a:pt x="19050" y="1683990"/>
                  </a:lnTo>
                  <a:cubicBezTo>
                    <a:pt x="8509" y="1683990"/>
                    <a:pt x="0" y="1676678"/>
                    <a:pt x="0" y="1667621"/>
                  </a:cubicBezTo>
                  <a:lnTo>
                    <a:pt x="0" y="16368"/>
                  </a:lnTo>
                  <a:cubicBezTo>
                    <a:pt x="0" y="7311"/>
                    <a:pt x="8509" y="0"/>
                    <a:pt x="19050" y="0"/>
                  </a:cubicBezTo>
                  <a:moveTo>
                    <a:pt x="19050" y="32737"/>
                  </a:moveTo>
                  <a:lnTo>
                    <a:pt x="19050" y="16368"/>
                  </a:lnTo>
                  <a:lnTo>
                    <a:pt x="38100" y="16368"/>
                  </a:lnTo>
                  <a:lnTo>
                    <a:pt x="38100" y="1667621"/>
                  </a:lnTo>
                  <a:lnTo>
                    <a:pt x="19050" y="1667621"/>
                  </a:lnTo>
                  <a:lnTo>
                    <a:pt x="19050" y="1651253"/>
                  </a:lnTo>
                  <a:lnTo>
                    <a:pt x="11366500" y="1651253"/>
                  </a:lnTo>
                  <a:lnTo>
                    <a:pt x="11366500" y="1667621"/>
                  </a:lnTo>
                  <a:lnTo>
                    <a:pt x="11347450" y="1667621"/>
                  </a:lnTo>
                  <a:lnTo>
                    <a:pt x="11347450" y="16368"/>
                  </a:lnTo>
                  <a:lnTo>
                    <a:pt x="11366500" y="16368"/>
                  </a:lnTo>
                  <a:lnTo>
                    <a:pt x="11366500" y="32737"/>
                  </a:lnTo>
                  <a:lnTo>
                    <a:pt x="19050" y="32737"/>
                  </a:lnTo>
                  <a:close/>
                </a:path>
              </a:pathLst>
            </a:custGeom>
            <a:solidFill>
              <a:srgbClr val="F97316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426672" y="7344889"/>
            <a:ext cx="8510568" cy="439255"/>
            <a:chOff x="0" y="0"/>
            <a:chExt cx="11347425" cy="585673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1347450" cy="585724"/>
            </a:xfrm>
            <a:custGeom>
              <a:avLst/>
              <a:gdLst/>
              <a:ahLst/>
              <a:cxnLst/>
              <a:rect r="r" b="b" t="t" l="l"/>
              <a:pathLst>
                <a:path h="585724" w="11347450">
                  <a:moveTo>
                    <a:pt x="0" y="0"/>
                  </a:moveTo>
                  <a:lnTo>
                    <a:pt x="11347450" y="0"/>
                  </a:lnTo>
                  <a:lnTo>
                    <a:pt x="11347450" y="585724"/>
                  </a:lnTo>
                  <a:lnTo>
                    <a:pt x="0" y="585724"/>
                  </a:lnTo>
                  <a:close/>
                </a:path>
              </a:pathLst>
            </a:custGeom>
            <a:solidFill>
              <a:srgbClr val="F97316"/>
            </a:solidFill>
          </p:spPr>
        </p:sp>
      </p:grpSp>
      <p:sp>
        <p:nvSpPr>
          <p:cNvPr name="TextBox 45" id="45"/>
          <p:cNvSpPr txBox="true"/>
          <p:nvPr/>
        </p:nvSpPr>
        <p:spPr>
          <a:xfrm rot="0">
            <a:off x="655377" y="7416937"/>
            <a:ext cx="8053159" cy="294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ORDERS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655377" y="7842466"/>
            <a:ext cx="8053159" cy="41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sz="1275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id INT PK  |  buyer_id FK → users  |  seller_id FK → users  |  listing_id FK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655377" y="8254270"/>
            <a:ext cx="8053159" cy="41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sz="1275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quantity INT  |  total_price DECIMAL  |  status ENUM  |  notes TEXT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9374781" y="1223943"/>
            <a:ext cx="8539162" cy="1325604"/>
            <a:chOff x="0" y="0"/>
            <a:chExt cx="11385550" cy="1767472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19050" y="17180"/>
              <a:ext cx="11347450" cy="1733101"/>
            </a:xfrm>
            <a:custGeom>
              <a:avLst/>
              <a:gdLst/>
              <a:ahLst/>
              <a:cxnLst/>
              <a:rect r="r" b="b" t="t" l="l"/>
              <a:pathLst>
                <a:path h="1733101" w="11347450">
                  <a:moveTo>
                    <a:pt x="0" y="0"/>
                  </a:moveTo>
                  <a:lnTo>
                    <a:pt x="11347450" y="0"/>
                  </a:lnTo>
                  <a:lnTo>
                    <a:pt x="11347450" y="1733101"/>
                  </a:lnTo>
                  <a:lnTo>
                    <a:pt x="0" y="1733101"/>
                  </a:lnTo>
                  <a:close/>
                </a:path>
              </a:pathLst>
            </a:custGeom>
            <a:solidFill>
              <a:srgbClr val="1E2D40"/>
            </a:solidFill>
          </p:spPr>
        </p:sp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1385550" cy="1767460"/>
            </a:xfrm>
            <a:custGeom>
              <a:avLst/>
              <a:gdLst/>
              <a:ahLst/>
              <a:cxnLst/>
              <a:rect r="r" b="b" t="t" l="l"/>
              <a:pathLst>
                <a:path h="1767460" w="11385550">
                  <a:moveTo>
                    <a:pt x="19050" y="0"/>
                  </a:moveTo>
                  <a:lnTo>
                    <a:pt x="11366500" y="0"/>
                  </a:lnTo>
                  <a:cubicBezTo>
                    <a:pt x="11377041" y="0"/>
                    <a:pt x="11385550" y="7674"/>
                    <a:pt x="11385550" y="17180"/>
                  </a:cubicBezTo>
                  <a:lnTo>
                    <a:pt x="11385550" y="1750281"/>
                  </a:lnTo>
                  <a:cubicBezTo>
                    <a:pt x="11385550" y="1759787"/>
                    <a:pt x="11377041" y="1767460"/>
                    <a:pt x="11366500" y="1767460"/>
                  </a:cubicBezTo>
                  <a:lnTo>
                    <a:pt x="19050" y="1767460"/>
                  </a:lnTo>
                  <a:cubicBezTo>
                    <a:pt x="8509" y="1767460"/>
                    <a:pt x="0" y="1759787"/>
                    <a:pt x="0" y="1750281"/>
                  </a:cubicBezTo>
                  <a:lnTo>
                    <a:pt x="0" y="17180"/>
                  </a:lnTo>
                  <a:cubicBezTo>
                    <a:pt x="0" y="7674"/>
                    <a:pt x="8509" y="0"/>
                    <a:pt x="19050" y="0"/>
                  </a:cubicBezTo>
                  <a:moveTo>
                    <a:pt x="19050" y="34360"/>
                  </a:moveTo>
                  <a:lnTo>
                    <a:pt x="19050" y="17180"/>
                  </a:lnTo>
                  <a:lnTo>
                    <a:pt x="38100" y="17180"/>
                  </a:lnTo>
                  <a:lnTo>
                    <a:pt x="38100" y="1750281"/>
                  </a:lnTo>
                  <a:lnTo>
                    <a:pt x="19050" y="1750281"/>
                  </a:lnTo>
                  <a:lnTo>
                    <a:pt x="19050" y="1733101"/>
                  </a:lnTo>
                  <a:lnTo>
                    <a:pt x="11366500" y="1733101"/>
                  </a:lnTo>
                  <a:lnTo>
                    <a:pt x="11366500" y="1750281"/>
                  </a:lnTo>
                  <a:lnTo>
                    <a:pt x="11347450" y="1750281"/>
                  </a:lnTo>
                  <a:lnTo>
                    <a:pt x="11347450" y="17180"/>
                  </a:lnTo>
                  <a:lnTo>
                    <a:pt x="11366500" y="17180"/>
                  </a:lnTo>
                  <a:lnTo>
                    <a:pt x="11366500" y="34360"/>
                  </a:lnTo>
                  <a:lnTo>
                    <a:pt x="19050" y="34360"/>
                  </a:lnTo>
                  <a:close/>
                </a:path>
              </a:pathLst>
            </a:custGeom>
            <a:solidFill>
              <a:srgbClr val="16A34A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9389078" y="1238250"/>
            <a:ext cx="8510568" cy="439255"/>
            <a:chOff x="0" y="0"/>
            <a:chExt cx="11347425" cy="585673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1347450" cy="585724"/>
            </a:xfrm>
            <a:custGeom>
              <a:avLst/>
              <a:gdLst/>
              <a:ahLst/>
              <a:cxnLst/>
              <a:rect r="r" b="b" t="t" l="l"/>
              <a:pathLst>
                <a:path h="585724" w="11347450">
                  <a:moveTo>
                    <a:pt x="0" y="0"/>
                  </a:moveTo>
                  <a:lnTo>
                    <a:pt x="11347450" y="0"/>
                  </a:lnTo>
                  <a:lnTo>
                    <a:pt x="11347450" y="585724"/>
                  </a:lnTo>
                  <a:lnTo>
                    <a:pt x="0" y="585724"/>
                  </a:lnTo>
                  <a:close/>
                </a:path>
              </a:pathLst>
            </a:custGeom>
            <a:solidFill>
              <a:srgbClr val="16A34A"/>
            </a:solidFill>
          </p:spPr>
        </p:sp>
      </p:grpSp>
      <p:sp>
        <p:nvSpPr>
          <p:cNvPr name="TextBox 53" id="53"/>
          <p:cNvSpPr txBox="true"/>
          <p:nvPr/>
        </p:nvSpPr>
        <p:spPr>
          <a:xfrm rot="0">
            <a:off x="9617783" y="1310297"/>
            <a:ext cx="8053159" cy="294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REVIEWS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9617783" y="1735826"/>
            <a:ext cx="8053159" cy="41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sz="1275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id INT PK  |  reviewer_id FK → users  |  seller_id FK → users  |  listing_id FK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9617783" y="2147630"/>
            <a:ext cx="8053159" cy="41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sz="1275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rating TINYINT (1–5)  |  comment TEXT</a:t>
            </a:r>
          </a:p>
        </p:txBody>
      </p:sp>
      <p:grpSp>
        <p:nvGrpSpPr>
          <p:cNvPr name="Group 56" id="56"/>
          <p:cNvGrpSpPr/>
          <p:nvPr/>
        </p:nvGrpSpPr>
        <p:grpSpPr>
          <a:xfrm rot="0">
            <a:off x="9389078" y="2679497"/>
            <a:ext cx="8539162" cy="1325604"/>
            <a:chOff x="0" y="0"/>
            <a:chExt cx="11385550" cy="176747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19050" y="17180"/>
              <a:ext cx="11347450" cy="1733101"/>
            </a:xfrm>
            <a:custGeom>
              <a:avLst/>
              <a:gdLst/>
              <a:ahLst/>
              <a:cxnLst/>
              <a:rect r="r" b="b" t="t" l="l"/>
              <a:pathLst>
                <a:path h="1733101" w="11347450">
                  <a:moveTo>
                    <a:pt x="0" y="0"/>
                  </a:moveTo>
                  <a:lnTo>
                    <a:pt x="11347450" y="0"/>
                  </a:lnTo>
                  <a:lnTo>
                    <a:pt x="11347450" y="1733101"/>
                  </a:lnTo>
                  <a:lnTo>
                    <a:pt x="0" y="1733101"/>
                  </a:lnTo>
                  <a:close/>
                </a:path>
              </a:pathLst>
            </a:custGeom>
            <a:solidFill>
              <a:srgbClr val="1E2D40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1385550" cy="1767460"/>
            </a:xfrm>
            <a:custGeom>
              <a:avLst/>
              <a:gdLst/>
              <a:ahLst/>
              <a:cxnLst/>
              <a:rect r="r" b="b" t="t" l="l"/>
              <a:pathLst>
                <a:path h="1767460" w="11385550">
                  <a:moveTo>
                    <a:pt x="19050" y="0"/>
                  </a:moveTo>
                  <a:lnTo>
                    <a:pt x="11366500" y="0"/>
                  </a:lnTo>
                  <a:cubicBezTo>
                    <a:pt x="11377041" y="0"/>
                    <a:pt x="11385550" y="7674"/>
                    <a:pt x="11385550" y="17180"/>
                  </a:cubicBezTo>
                  <a:lnTo>
                    <a:pt x="11385550" y="1750281"/>
                  </a:lnTo>
                  <a:cubicBezTo>
                    <a:pt x="11385550" y="1759787"/>
                    <a:pt x="11377041" y="1767460"/>
                    <a:pt x="11366500" y="1767460"/>
                  </a:cubicBezTo>
                  <a:lnTo>
                    <a:pt x="19050" y="1767460"/>
                  </a:lnTo>
                  <a:cubicBezTo>
                    <a:pt x="8509" y="1767460"/>
                    <a:pt x="0" y="1759787"/>
                    <a:pt x="0" y="1750281"/>
                  </a:cubicBezTo>
                  <a:lnTo>
                    <a:pt x="0" y="17180"/>
                  </a:lnTo>
                  <a:cubicBezTo>
                    <a:pt x="0" y="7674"/>
                    <a:pt x="8509" y="0"/>
                    <a:pt x="19050" y="0"/>
                  </a:cubicBezTo>
                  <a:moveTo>
                    <a:pt x="19050" y="34360"/>
                  </a:moveTo>
                  <a:lnTo>
                    <a:pt x="19050" y="17180"/>
                  </a:lnTo>
                  <a:lnTo>
                    <a:pt x="38100" y="17180"/>
                  </a:lnTo>
                  <a:lnTo>
                    <a:pt x="38100" y="1750281"/>
                  </a:lnTo>
                  <a:lnTo>
                    <a:pt x="19050" y="1750281"/>
                  </a:lnTo>
                  <a:lnTo>
                    <a:pt x="19050" y="1733101"/>
                  </a:lnTo>
                  <a:lnTo>
                    <a:pt x="11366500" y="1733101"/>
                  </a:lnTo>
                  <a:lnTo>
                    <a:pt x="11366500" y="1750281"/>
                  </a:lnTo>
                  <a:lnTo>
                    <a:pt x="11347450" y="1750281"/>
                  </a:lnTo>
                  <a:lnTo>
                    <a:pt x="11347450" y="17180"/>
                  </a:lnTo>
                  <a:lnTo>
                    <a:pt x="11366500" y="17180"/>
                  </a:lnTo>
                  <a:lnTo>
                    <a:pt x="11366500" y="34360"/>
                  </a:lnTo>
                  <a:lnTo>
                    <a:pt x="19050" y="34360"/>
                  </a:lnTo>
                  <a:close/>
                </a:path>
              </a:pathLst>
            </a:custGeom>
            <a:solidFill>
              <a:srgbClr val="256DCA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9403375" y="2693794"/>
            <a:ext cx="8510568" cy="439255"/>
            <a:chOff x="0" y="0"/>
            <a:chExt cx="11347425" cy="585673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1347450" cy="585724"/>
            </a:xfrm>
            <a:custGeom>
              <a:avLst/>
              <a:gdLst/>
              <a:ahLst/>
              <a:cxnLst/>
              <a:rect r="r" b="b" t="t" l="l"/>
              <a:pathLst>
                <a:path h="585724" w="11347450">
                  <a:moveTo>
                    <a:pt x="0" y="0"/>
                  </a:moveTo>
                  <a:lnTo>
                    <a:pt x="11347450" y="0"/>
                  </a:lnTo>
                  <a:lnTo>
                    <a:pt x="11347450" y="585724"/>
                  </a:lnTo>
                  <a:lnTo>
                    <a:pt x="0" y="585724"/>
                  </a:lnTo>
                  <a:close/>
                </a:path>
              </a:pathLst>
            </a:custGeom>
            <a:solidFill>
              <a:srgbClr val="256DCA"/>
            </a:solidFill>
          </p:spPr>
        </p:sp>
      </p:grpSp>
      <p:sp>
        <p:nvSpPr>
          <p:cNvPr name="TextBox 61" id="61"/>
          <p:cNvSpPr txBox="true"/>
          <p:nvPr/>
        </p:nvSpPr>
        <p:spPr>
          <a:xfrm rot="0">
            <a:off x="9632080" y="2765850"/>
            <a:ext cx="8053159" cy="294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CONVERSATIONS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9632080" y="3191380"/>
            <a:ext cx="8053159" cy="41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sz="1275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id INT PK  |  listing_id FK → listings</a:t>
            </a:r>
          </a:p>
        </p:txBody>
      </p:sp>
      <p:grpSp>
        <p:nvGrpSpPr>
          <p:cNvPr name="Group 63" id="63"/>
          <p:cNvGrpSpPr/>
          <p:nvPr/>
        </p:nvGrpSpPr>
        <p:grpSpPr>
          <a:xfrm rot="0">
            <a:off x="9389078" y="4154091"/>
            <a:ext cx="8539162" cy="1469908"/>
            <a:chOff x="0" y="0"/>
            <a:chExt cx="11385550" cy="1959877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19050" y="19050"/>
              <a:ext cx="11347450" cy="1921764"/>
            </a:xfrm>
            <a:custGeom>
              <a:avLst/>
              <a:gdLst/>
              <a:ahLst/>
              <a:cxnLst/>
              <a:rect r="r" b="b" t="t" l="l"/>
              <a:pathLst>
                <a:path h="1921764" w="11347450">
                  <a:moveTo>
                    <a:pt x="0" y="0"/>
                  </a:moveTo>
                  <a:lnTo>
                    <a:pt x="11347450" y="0"/>
                  </a:lnTo>
                  <a:lnTo>
                    <a:pt x="11347450" y="1921764"/>
                  </a:lnTo>
                  <a:lnTo>
                    <a:pt x="0" y="1921764"/>
                  </a:lnTo>
                  <a:close/>
                </a:path>
              </a:pathLst>
            </a:custGeom>
            <a:solidFill>
              <a:srgbClr val="1E2D40"/>
            </a:solidFill>
          </p:spPr>
        </p:sp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1385550" cy="1959864"/>
            </a:xfrm>
            <a:custGeom>
              <a:avLst/>
              <a:gdLst/>
              <a:ahLst/>
              <a:cxnLst/>
              <a:rect r="r" b="b" t="t" l="l"/>
              <a:pathLst>
                <a:path h="1959864" w="11385550">
                  <a:moveTo>
                    <a:pt x="19050" y="0"/>
                  </a:moveTo>
                  <a:lnTo>
                    <a:pt x="11366500" y="0"/>
                  </a:lnTo>
                  <a:cubicBezTo>
                    <a:pt x="11377041" y="0"/>
                    <a:pt x="11385550" y="8509"/>
                    <a:pt x="11385550" y="19050"/>
                  </a:cubicBezTo>
                  <a:lnTo>
                    <a:pt x="11385550" y="1940814"/>
                  </a:lnTo>
                  <a:cubicBezTo>
                    <a:pt x="11385550" y="1951355"/>
                    <a:pt x="11377041" y="1959864"/>
                    <a:pt x="11366500" y="1959864"/>
                  </a:cubicBezTo>
                  <a:lnTo>
                    <a:pt x="19050" y="1959864"/>
                  </a:lnTo>
                  <a:cubicBezTo>
                    <a:pt x="8509" y="1959864"/>
                    <a:pt x="0" y="1951355"/>
                    <a:pt x="0" y="1940814"/>
                  </a:cubicBezTo>
                  <a:lnTo>
                    <a:pt x="0" y="19050"/>
                  </a:lnTo>
                  <a:cubicBezTo>
                    <a:pt x="0" y="8509"/>
                    <a:pt x="8509" y="0"/>
                    <a:pt x="19050" y="0"/>
                  </a:cubicBezTo>
                  <a:moveTo>
                    <a:pt x="19050" y="38100"/>
                  </a:moveTo>
                  <a:lnTo>
                    <a:pt x="19050" y="19050"/>
                  </a:lnTo>
                  <a:lnTo>
                    <a:pt x="38100" y="19050"/>
                  </a:lnTo>
                  <a:lnTo>
                    <a:pt x="38100" y="1940814"/>
                  </a:lnTo>
                  <a:lnTo>
                    <a:pt x="19050" y="1940814"/>
                  </a:lnTo>
                  <a:lnTo>
                    <a:pt x="19050" y="1921764"/>
                  </a:lnTo>
                  <a:lnTo>
                    <a:pt x="11366500" y="1921764"/>
                  </a:lnTo>
                  <a:lnTo>
                    <a:pt x="11366500" y="1940814"/>
                  </a:lnTo>
                  <a:lnTo>
                    <a:pt x="11347450" y="1940814"/>
                  </a:lnTo>
                  <a:lnTo>
                    <a:pt x="11347450" y="19050"/>
                  </a:lnTo>
                  <a:lnTo>
                    <a:pt x="11366500" y="19050"/>
                  </a:lnTo>
                  <a:lnTo>
                    <a:pt x="11366500" y="38100"/>
                  </a:lnTo>
                  <a:lnTo>
                    <a:pt x="19050" y="38100"/>
                  </a:lnTo>
                  <a:close/>
                </a:path>
              </a:pathLst>
            </a:custGeom>
            <a:solidFill>
              <a:srgbClr val="06B6D4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9403375" y="4168388"/>
            <a:ext cx="8510568" cy="439255"/>
            <a:chOff x="0" y="0"/>
            <a:chExt cx="11347425" cy="585673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1347450" cy="585724"/>
            </a:xfrm>
            <a:custGeom>
              <a:avLst/>
              <a:gdLst/>
              <a:ahLst/>
              <a:cxnLst/>
              <a:rect r="r" b="b" t="t" l="l"/>
              <a:pathLst>
                <a:path h="585724" w="11347450">
                  <a:moveTo>
                    <a:pt x="0" y="0"/>
                  </a:moveTo>
                  <a:lnTo>
                    <a:pt x="11347450" y="0"/>
                  </a:lnTo>
                  <a:lnTo>
                    <a:pt x="11347450" y="585724"/>
                  </a:lnTo>
                  <a:lnTo>
                    <a:pt x="0" y="585724"/>
                  </a:lnTo>
                  <a:close/>
                </a:path>
              </a:pathLst>
            </a:custGeom>
            <a:solidFill>
              <a:srgbClr val="06B6D4"/>
            </a:solidFill>
          </p:spPr>
        </p:sp>
      </p:grpSp>
      <p:sp>
        <p:nvSpPr>
          <p:cNvPr name="TextBox 68" id="68"/>
          <p:cNvSpPr txBox="true"/>
          <p:nvPr/>
        </p:nvSpPr>
        <p:spPr>
          <a:xfrm rot="0">
            <a:off x="9632080" y="4240435"/>
            <a:ext cx="8053159" cy="294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MESSAGES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9632080" y="4665964"/>
            <a:ext cx="8053159" cy="41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sz="1275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id INT PK  |  conversation_id FK  |  sender_id FK → users  |  content TEXT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9632080" y="5077768"/>
            <a:ext cx="8053159" cy="41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sz="1275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is_read TINYINT</a:t>
            </a:r>
          </a:p>
        </p:txBody>
      </p:sp>
      <p:grpSp>
        <p:nvGrpSpPr>
          <p:cNvPr name="Group 71" id="71"/>
          <p:cNvGrpSpPr/>
          <p:nvPr/>
        </p:nvGrpSpPr>
        <p:grpSpPr>
          <a:xfrm rot="0">
            <a:off x="9389078" y="5746385"/>
            <a:ext cx="8539162" cy="1469908"/>
            <a:chOff x="0" y="0"/>
            <a:chExt cx="11385550" cy="1959877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19050" y="19050"/>
              <a:ext cx="11347450" cy="1921764"/>
            </a:xfrm>
            <a:custGeom>
              <a:avLst/>
              <a:gdLst/>
              <a:ahLst/>
              <a:cxnLst/>
              <a:rect r="r" b="b" t="t" l="l"/>
              <a:pathLst>
                <a:path h="1921764" w="11347450">
                  <a:moveTo>
                    <a:pt x="0" y="0"/>
                  </a:moveTo>
                  <a:lnTo>
                    <a:pt x="11347450" y="0"/>
                  </a:lnTo>
                  <a:lnTo>
                    <a:pt x="11347450" y="1921764"/>
                  </a:lnTo>
                  <a:lnTo>
                    <a:pt x="0" y="1921764"/>
                  </a:lnTo>
                  <a:close/>
                </a:path>
              </a:pathLst>
            </a:custGeom>
            <a:solidFill>
              <a:srgbClr val="1E2D40"/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1385550" cy="1959864"/>
            </a:xfrm>
            <a:custGeom>
              <a:avLst/>
              <a:gdLst/>
              <a:ahLst/>
              <a:cxnLst/>
              <a:rect r="r" b="b" t="t" l="l"/>
              <a:pathLst>
                <a:path h="1959864" w="11385550">
                  <a:moveTo>
                    <a:pt x="19050" y="0"/>
                  </a:moveTo>
                  <a:lnTo>
                    <a:pt x="11366500" y="0"/>
                  </a:lnTo>
                  <a:cubicBezTo>
                    <a:pt x="11377041" y="0"/>
                    <a:pt x="11385550" y="8509"/>
                    <a:pt x="11385550" y="19050"/>
                  </a:cubicBezTo>
                  <a:lnTo>
                    <a:pt x="11385550" y="1940814"/>
                  </a:lnTo>
                  <a:cubicBezTo>
                    <a:pt x="11385550" y="1951355"/>
                    <a:pt x="11377041" y="1959864"/>
                    <a:pt x="11366500" y="1959864"/>
                  </a:cubicBezTo>
                  <a:lnTo>
                    <a:pt x="19050" y="1959864"/>
                  </a:lnTo>
                  <a:cubicBezTo>
                    <a:pt x="8509" y="1959864"/>
                    <a:pt x="0" y="1951355"/>
                    <a:pt x="0" y="1940814"/>
                  </a:cubicBezTo>
                  <a:lnTo>
                    <a:pt x="0" y="19050"/>
                  </a:lnTo>
                  <a:cubicBezTo>
                    <a:pt x="0" y="8509"/>
                    <a:pt x="8509" y="0"/>
                    <a:pt x="19050" y="0"/>
                  </a:cubicBezTo>
                  <a:moveTo>
                    <a:pt x="19050" y="38100"/>
                  </a:moveTo>
                  <a:lnTo>
                    <a:pt x="19050" y="19050"/>
                  </a:lnTo>
                  <a:lnTo>
                    <a:pt x="38100" y="19050"/>
                  </a:lnTo>
                  <a:lnTo>
                    <a:pt x="38100" y="1940814"/>
                  </a:lnTo>
                  <a:lnTo>
                    <a:pt x="19050" y="1940814"/>
                  </a:lnTo>
                  <a:lnTo>
                    <a:pt x="19050" y="1921764"/>
                  </a:lnTo>
                  <a:lnTo>
                    <a:pt x="11366500" y="1921764"/>
                  </a:lnTo>
                  <a:lnTo>
                    <a:pt x="11366500" y="1940814"/>
                  </a:lnTo>
                  <a:lnTo>
                    <a:pt x="11347450" y="1940814"/>
                  </a:lnTo>
                  <a:lnTo>
                    <a:pt x="11347450" y="19050"/>
                  </a:lnTo>
                  <a:lnTo>
                    <a:pt x="11366500" y="19050"/>
                  </a:lnTo>
                  <a:lnTo>
                    <a:pt x="11366500" y="38100"/>
                  </a:lnTo>
                  <a:lnTo>
                    <a:pt x="19050" y="38100"/>
                  </a:ln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9403375" y="5760682"/>
            <a:ext cx="8510568" cy="439255"/>
            <a:chOff x="0" y="0"/>
            <a:chExt cx="11347425" cy="585673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1347450" cy="585724"/>
            </a:xfrm>
            <a:custGeom>
              <a:avLst/>
              <a:gdLst/>
              <a:ahLst/>
              <a:cxnLst/>
              <a:rect r="r" b="b" t="t" l="l"/>
              <a:pathLst>
                <a:path h="585724" w="11347450">
                  <a:moveTo>
                    <a:pt x="0" y="0"/>
                  </a:moveTo>
                  <a:lnTo>
                    <a:pt x="11347450" y="0"/>
                  </a:lnTo>
                  <a:lnTo>
                    <a:pt x="11347450" y="585724"/>
                  </a:lnTo>
                  <a:lnTo>
                    <a:pt x="0" y="585724"/>
                  </a:lnTo>
                  <a:close/>
                </a:path>
              </a:pathLst>
            </a:custGeom>
            <a:solidFill>
              <a:srgbClr val="7C3AED"/>
            </a:solidFill>
          </p:spPr>
        </p:sp>
      </p:grpSp>
      <p:sp>
        <p:nvSpPr>
          <p:cNvPr name="TextBox 76" id="76"/>
          <p:cNvSpPr txBox="true"/>
          <p:nvPr/>
        </p:nvSpPr>
        <p:spPr>
          <a:xfrm rot="0">
            <a:off x="9617783" y="5847226"/>
            <a:ext cx="8053159" cy="294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NOTIFICATIONS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9617783" y="6512728"/>
            <a:ext cx="8053159" cy="41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sz="1275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id INT PK  |  user_id FK → users  |  type VARCHAR  |  title VARCHAR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9617783" y="6924523"/>
            <a:ext cx="8053159" cy="41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sz="1275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body TEXT  |  is_read TINYINT</a:t>
            </a:r>
          </a:p>
        </p:txBody>
      </p:sp>
      <p:grpSp>
        <p:nvGrpSpPr>
          <p:cNvPr name="Group 79" id="79"/>
          <p:cNvGrpSpPr/>
          <p:nvPr/>
        </p:nvGrpSpPr>
        <p:grpSpPr>
          <a:xfrm rot="0">
            <a:off x="9403375" y="7330592"/>
            <a:ext cx="8539162" cy="1263000"/>
            <a:chOff x="0" y="0"/>
            <a:chExt cx="11385550" cy="1684001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19050" y="16368"/>
              <a:ext cx="11347450" cy="1651253"/>
            </a:xfrm>
            <a:custGeom>
              <a:avLst/>
              <a:gdLst/>
              <a:ahLst/>
              <a:cxnLst/>
              <a:rect r="r" b="b" t="t" l="l"/>
              <a:pathLst>
                <a:path h="1651253" w="11347450">
                  <a:moveTo>
                    <a:pt x="0" y="0"/>
                  </a:moveTo>
                  <a:lnTo>
                    <a:pt x="11347450" y="0"/>
                  </a:lnTo>
                  <a:lnTo>
                    <a:pt x="11347450" y="1651253"/>
                  </a:lnTo>
                  <a:lnTo>
                    <a:pt x="0" y="1651253"/>
                  </a:lnTo>
                  <a:close/>
                </a:path>
              </a:pathLst>
            </a:custGeom>
            <a:solidFill>
              <a:srgbClr val="1E2D40"/>
            </a:solidFill>
          </p:spPr>
        </p:sp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1385550" cy="1683990"/>
            </a:xfrm>
            <a:custGeom>
              <a:avLst/>
              <a:gdLst/>
              <a:ahLst/>
              <a:cxnLst/>
              <a:rect r="r" b="b" t="t" l="l"/>
              <a:pathLst>
                <a:path h="1683990" w="11385550">
                  <a:moveTo>
                    <a:pt x="19050" y="0"/>
                  </a:moveTo>
                  <a:lnTo>
                    <a:pt x="11366500" y="0"/>
                  </a:lnTo>
                  <a:cubicBezTo>
                    <a:pt x="11377041" y="0"/>
                    <a:pt x="11385550" y="7311"/>
                    <a:pt x="11385550" y="16368"/>
                  </a:cubicBezTo>
                  <a:lnTo>
                    <a:pt x="11385550" y="1667621"/>
                  </a:lnTo>
                  <a:cubicBezTo>
                    <a:pt x="11385550" y="1676678"/>
                    <a:pt x="11377041" y="1683990"/>
                    <a:pt x="11366500" y="1683990"/>
                  </a:cubicBezTo>
                  <a:lnTo>
                    <a:pt x="19050" y="1683990"/>
                  </a:lnTo>
                  <a:cubicBezTo>
                    <a:pt x="8509" y="1683990"/>
                    <a:pt x="0" y="1676678"/>
                    <a:pt x="0" y="1667621"/>
                  </a:cubicBezTo>
                  <a:lnTo>
                    <a:pt x="0" y="16368"/>
                  </a:lnTo>
                  <a:cubicBezTo>
                    <a:pt x="0" y="7311"/>
                    <a:pt x="8509" y="0"/>
                    <a:pt x="19050" y="0"/>
                  </a:cubicBezTo>
                  <a:moveTo>
                    <a:pt x="19050" y="32737"/>
                  </a:moveTo>
                  <a:lnTo>
                    <a:pt x="19050" y="16368"/>
                  </a:lnTo>
                  <a:lnTo>
                    <a:pt x="38100" y="16368"/>
                  </a:lnTo>
                  <a:lnTo>
                    <a:pt x="38100" y="1667621"/>
                  </a:lnTo>
                  <a:lnTo>
                    <a:pt x="19050" y="1667621"/>
                  </a:lnTo>
                  <a:lnTo>
                    <a:pt x="19050" y="1651253"/>
                  </a:lnTo>
                  <a:lnTo>
                    <a:pt x="11366500" y="1651253"/>
                  </a:lnTo>
                  <a:lnTo>
                    <a:pt x="11366500" y="1667621"/>
                  </a:lnTo>
                  <a:lnTo>
                    <a:pt x="11347450" y="1667621"/>
                  </a:lnTo>
                  <a:lnTo>
                    <a:pt x="11347450" y="16368"/>
                  </a:lnTo>
                  <a:lnTo>
                    <a:pt x="11366500" y="16368"/>
                  </a:lnTo>
                  <a:lnTo>
                    <a:pt x="11366500" y="32737"/>
                  </a:lnTo>
                  <a:lnTo>
                    <a:pt x="19050" y="32737"/>
                  </a:lnTo>
                  <a:close/>
                </a:path>
              </a:pathLst>
            </a:custGeom>
            <a:solidFill>
              <a:srgbClr val="F97316"/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9417672" y="7344889"/>
            <a:ext cx="8510568" cy="439255"/>
            <a:chOff x="0" y="0"/>
            <a:chExt cx="11347425" cy="585673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11347450" cy="585724"/>
            </a:xfrm>
            <a:custGeom>
              <a:avLst/>
              <a:gdLst/>
              <a:ahLst/>
              <a:cxnLst/>
              <a:rect r="r" b="b" t="t" l="l"/>
              <a:pathLst>
                <a:path h="585724" w="11347450">
                  <a:moveTo>
                    <a:pt x="0" y="0"/>
                  </a:moveTo>
                  <a:lnTo>
                    <a:pt x="11347450" y="0"/>
                  </a:lnTo>
                  <a:lnTo>
                    <a:pt x="11347450" y="585724"/>
                  </a:lnTo>
                  <a:lnTo>
                    <a:pt x="0" y="585724"/>
                  </a:lnTo>
                  <a:close/>
                </a:path>
              </a:pathLst>
            </a:custGeom>
            <a:solidFill>
              <a:srgbClr val="F97316"/>
            </a:solidFill>
          </p:spPr>
        </p:sp>
      </p:grpSp>
      <p:sp>
        <p:nvSpPr>
          <p:cNvPr name="TextBox 84" id="84"/>
          <p:cNvSpPr txBox="true"/>
          <p:nvPr/>
        </p:nvSpPr>
        <p:spPr>
          <a:xfrm rot="0">
            <a:off x="9646377" y="7416937"/>
            <a:ext cx="8053159" cy="294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SAVED_LISTINGS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9646377" y="7842466"/>
            <a:ext cx="8053159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sz="1275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user_id FK → users (PK)  |  listing_id FK → listings (PK)  |  saved_at TIMESTAMP</a:t>
            </a:r>
          </a:p>
        </p:txBody>
      </p:sp>
      <p:grpSp>
        <p:nvGrpSpPr>
          <p:cNvPr name="Group 86" id="86"/>
          <p:cNvGrpSpPr/>
          <p:nvPr/>
        </p:nvGrpSpPr>
        <p:grpSpPr>
          <a:xfrm rot="0">
            <a:off x="4879281" y="8786136"/>
            <a:ext cx="8539162" cy="1271416"/>
            <a:chOff x="0" y="0"/>
            <a:chExt cx="11385550" cy="1695221"/>
          </a:xfrm>
        </p:grpSpPr>
        <p:grpSp>
          <p:nvGrpSpPr>
            <p:cNvPr name="Group 87" id="87"/>
            <p:cNvGrpSpPr/>
            <p:nvPr/>
          </p:nvGrpSpPr>
          <p:grpSpPr>
            <a:xfrm rot="0">
              <a:off x="0" y="0"/>
              <a:ext cx="11385550" cy="1695221"/>
              <a:chOff x="0" y="0"/>
              <a:chExt cx="11385550" cy="1695221"/>
            </a:xfrm>
          </p:grpSpPr>
          <p:sp>
            <p:nvSpPr>
              <p:cNvPr name="Freeform 88" id="88"/>
              <p:cNvSpPr/>
              <p:nvPr/>
            </p:nvSpPr>
            <p:spPr>
              <a:xfrm flipH="false" flipV="false" rot="0">
                <a:off x="19050" y="16478"/>
                <a:ext cx="11347450" cy="1662255"/>
              </a:xfrm>
              <a:custGeom>
                <a:avLst/>
                <a:gdLst/>
                <a:ahLst/>
                <a:cxnLst/>
                <a:rect r="r" b="b" t="t" l="l"/>
                <a:pathLst>
                  <a:path h="1662255" w="11347450">
                    <a:moveTo>
                      <a:pt x="0" y="0"/>
                    </a:moveTo>
                    <a:lnTo>
                      <a:pt x="11347450" y="0"/>
                    </a:lnTo>
                    <a:lnTo>
                      <a:pt x="11347450" y="1662255"/>
                    </a:lnTo>
                    <a:lnTo>
                      <a:pt x="0" y="1662255"/>
                    </a:lnTo>
                    <a:close/>
                  </a:path>
                </a:pathLst>
              </a:custGeom>
              <a:solidFill>
                <a:srgbClr val="1E2D40"/>
              </a:solidFill>
            </p:spPr>
          </p:sp>
          <p:sp>
            <p:nvSpPr>
              <p:cNvPr name="Freeform 89" id="89"/>
              <p:cNvSpPr/>
              <p:nvPr/>
            </p:nvSpPr>
            <p:spPr>
              <a:xfrm flipH="false" flipV="false" rot="0">
                <a:off x="0" y="0"/>
                <a:ext cx="11385550" cy="1695210"/>
              </a:xfrm>
              <a:custGeom>
                <a:avLst/>
                <a:gdLst/>
                <a:ahLst/>
                <a:cxnLst/>
                <a:rect r="r" b="b" t="t" l="l"/>
                <a:pathLst>
                  <a:path h="1695210" w="11385550">
                    <a:moveTo>
                      <a:pt x="19050" y="0"/>
                    </a:moveTo>
                    <a:lnTo>
                      <a:pt x="11366500" y="0"/>
                    </a:lnTo>
                    <a:cubicBezTo>
                      <a:pt x="11377041" y="0"/>
                      <a:pt x="11385550" y="7360"/>
                      <a:pt x="11385550" y="16478"/>
                    </a:cubicBezTo>
                    <a:lnTo>
                      <a:pt x="11385550" y="1678733"/>
                    </a:lnTo>
                    <a:cubicBezTo>
                      <a:pt x="11385550" y="1687851"/>
                      <a:pt x="11377041" y="1695210"/>
                      <a:pt x="11366500" y="1695210"/>
                    </a:cubicBezTo>
                    <a:lnTo>
                      <a:pt x="19050" y="1695210"/>
                    </a:lnTo>
                    <a:cubicBezTo>
                      <a:pt x="8509" y="1695210"/>
                      <a:pt x="0" y="1687851"/>
                      <a:pt x="0" y="1678733"/>
                    </a:cubicBezTo>
                    <a:lnTo>
                      <a:pt x="0" y="16478"/>
                    </a:lnTo>
                    <a:cubicBezTo>
                      <a:pt x="0" y="7360"/>
                      <a:pt x="8509" y="0"/>
                      <a:pt x="19050" y="0"/>
                    </a:cubicBezTo>
                    <a:moveTo>
                      <a:pt x="19050" y="32955"/>
                    </a:moveTo>
                    <a:lnTo>
                      <a:pt x="19050" y="16478"/>
                    </a:lnTo>
                    <a:lnTo>
                      <a:pt x="38100" y="16478"/>
                    </a:lnTo>
                    <a:lnTo>
                      <a:pt x="38100" y="1678733"/>
                    </a:lnTo>
                    <a:lnTo>
                      <a:pt x="19050" y="1678733"/>
                    </a:lnTo>
                    <a:lnTo>
                      <a:pt x="19050" y="1662256"/>
                    </a:lnTo>
                    <a:lnTo>
                      <a:pt x="11366500" y="1662256"/>
                    </a:lnTo>
                    <a:lnTo>
                      <a:pt x="11366500" y="1678733"/>
                    </a:lnTo>
                    <a:lnTo>
                      <a:pt x="11347450" y="1678733"/>
                    </a:lnTo>
                    <a:lnTo>
                      <a:pt x="11347450" y="16478"/>
                    </a:lnTo>
                    <a:lnTo>
                      <a:pt x="11366500" y="16478"/>
                    </a:lnTo>
                    <a:lnTo>
                      <a:pt x="11366500" y="32955"/>
                    </a:lnTo>
                    <a:lnTo>
                      <a:pt x="19050" y="32955"/>
                    </a:lnTo>
                    <a:close/>
                  </a:path>
                </a:pathLst>
              </a:custGeom>
              <a:solidFill>
                <a:srgbClr val="64748B"/>
              </a:solidFill>
            </p:spPr>
          </p:sp>
        </p:grpSp>
        <p:grpSp>
          <p:nvGrpSpPr>
            <p:cNvPr name="Group 90" id="90"/>
            <p:cNvGrpSpPr/>
            <p:nvPr/>
          </p:nvGrpSpPr>
          <p:grpSpPr>
            <a:xfrm rot="0">
              <a:off x="19063" y="19063"/>
              <a:ext cx="11347425" cy="585673"/>
              <a:chOff x="0" y="0"/>
              <a:chExt cx="11347425" cy="585673"/>
            </a:xfrm>
          </p:grpSpPr>
          <p:sp>
            <p:nvSpPr>
              <p:cNvPr name="Freeform 91" id="91"/>
              <p:cNvSpPr/>
              <p:nvPr/>
            </p:nvSpPr>
            <p:spPr>
              <a:xfrm flipH="false" flipV="false" rot="0">
                <a:off x="0" y="0"/>
                <a:ext cx="11347450" cy="585724"/>
              </a:xfrm>
              <a:custGeom>
                <a:avLst/>
                <a:gdLst/>
                <a:ahLst/>
                <a:cxnLst/>
                <a:rect r="r" b="b" t="t" l="l"/>
                <a:pathLst>
                  <a:path h="585724" w="11347450">
                    <a:moveTo>
                      <a:pt x="0" y="0"/>
                    </a:moveTo>
                    <a:lnTo>
                      <a:pt x="11347450" y="0"/>
                    </a:lnTo>
                    <a:lnTo>
                      <a:pt x="11347450" y="585724"/>
                    </a:lnTo>
                    <a:lnTo>
                      <a:pt x="0" y="585724"/>
                    </a:lnTo>
                    <a:close/>
                  </a:path>
                </a:pathLst>
              </a:custGeom>
              <a:solidFill>
                <a:srgbClr val="64748B"/>
              </a:solidFill>
            </p:spPr>
          </p:sp>
        </p:grpSp>
        <p:sp>
          <p:nvSpPr>
            <p:cNvPr name="TextBox 92" id="92"/>
            <p:cNvSpPr txBox="true"/>
            <p:nvPr/>
          </p:nvSpPr>
          <p:spPr>
            <a:xfrm rot="0">
              <a:off x="324002" y="124663"/>
              <a:ext cx="10737545" cy="3587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81"/>
                </a:lnSpc>
              </a:pPr>
              <a:r>
                <a:rPr lang="en-US" sz="1651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CONV_PAR</a:t>
              </a:r>
              <a:r>
                <a:rPr lang="en-US" sz="1651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TICIPANTS</a:t>
              </a:r>
            </a:p>
          </p:txBody>
        </p:sp>
        <p:sp>
          <p:nvSpPr>
            <p:cNvPr name="TextBox 93" id="93"/>
            <p:cNvSpPr txBox="true"/>
            <p:nvPr/>
          </p:nvSpPr>
          <p:spPr>
            <a:xfrm rot="0">
              <a:off x="324002" y="692036"/>
              <a:ext cx="10737545" cy="2825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531"/>
                </a:lnSpc>
              </a:pPr>
            </a:p>
          </p:txBody>
        </p:sp>
      </p:grpSp>
      <p:sp>
        <p:nvSpPr>
          <p:cNvPr name="TextBox 94" id="94"/>
          <p:cNvSpPr txBox="true"/>
          <p:nvPr/>
        </p:nvSpPr>
        <p:spPr>
          <a:xfrm rot="0">
            <a:off x="5122283" y="9319536"/>
            <a:ext cx="8053159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sz="1275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conversation_id PK  → user_id FK</a:t>
            </a:r>
          </a:p>
          <a:p>
            <a:pPr algn="l">
              <a:lnSpc>
                <a:spcPts val="1531"/>
              </a:lnSpc>
            </a:pPr>
          </a:p>
          <a:p>
            <a:pPr algn="l">
              <a:lnSpc>
                <a:spcPts val="1531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10295039"/>
            <a:chOff x="0" y="0"/>
            <a:chExt cx="24396967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97725" cy="1921745"/>
            <a:chOff x="0" y="0"/>
            <a:chExt cx="24396967" cy="256232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96954" cy="2562352"/>
            </a:xfrm>
            <a:custGeom>
              <a:avLst/>
              <a:gdLst/>
              <a:ahLst/>
              <a:cxnLst/>
              <a:rect r="r" b="b" t="t" l="l"/>
              <a:pathLst>
                <a:path h="2562352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2562352"/>
                  </a:lnTo>
                  <a:lnTo>
                    <a:pt x="0" y="2562352"/>
                  </a:lnTo>
                  <a:close/>
                </a:path>
              </a:pathLst>
            </a:custGeom>
            <a:solidFill>
              <a:srgbClr val="256DCA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640509" y="234534"/>
            <a:ext cx="16975522" cy="955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64"/>
              </a:lnSpc>
            </a:pPr>
            <a:r>
              <a:rPr lang="en-US" sz="4803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UI/UX Design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40509" y="1164869"/>
            <a:ext cx="16975522" cy="505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BFD7FF"/>
                </a:solidFill>
                <a:latin typeface="Calibri (MS)"/>
                <a:ea typeface="Calibri (MS)"/>
                <a:cs typeface="Calibri (MS)"/>
                <a:sym typeface="Calibri (MS)"/>
              </a:rPr>
              <a:t>Key screens built with React 19, Vite, and Tailwind CSS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466134" y="2181977"/>
            <a:ext cx="4146614" cy="3528908"/>
            <a:chOff x="0" y="0"/>
            <a:chExt cx="5528818" cy="470521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9050" y="19050"/>
              <a:ext cx="5490718" cy="4667123"/>
            </a:xfrm>
            <a:custGeom>
              <a:avLst/>
              <a:gdLst/>
              <a:ahLst/>
              <a:cxnLst/>
              <a:rect r="r" b="b" t="t" l="l"/>
              <a:pathLst>
                <a:path h="4667123" w="5490718">
                  <a:moveTo>
                    <a:pt x="0" y="0"/>
                  </a:moveTo>
                  <a:lnTo>
                    <a:pt x="5490718" y="0"/>
                  </a:lnTo>
                  <a:lnTo>
                    <a:pt x="5490718" y="4667123"/>
                  </a:lnTo>
                  <a:lnTo>
                    <a:pt x="0" y="4667123"/>
                  </a:lnTo>
                  <a:close/>
                </a:path>
              </a:pathLst>
            </a:custGeom>
            <a:solidFill>
              <a:srgbClr val="1E2D40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528818" cy="4705223"/>
            </a:xfrm>
            <a:custGeom>
              <a:avLst/>
              <a:gdLst/>
              <a:ahLst/>
              <a:cxnLst/>
              <a:rect r="r" b="b" t="t" l="l"/>
              <a:pathLst>
                <a:path h="4705223" w="5528818">
                  <a:moveTo>
                    <a:pt x="19050" y="0"/>
                  </a:moveTo>
                  <a:lnTo>
                    <a:pt x="5509768" y="0"/>
                  </a:lnTo>
                  <a:cubicBezTo>
                    <a:pt x="5520309" y="0"/>
                    <a:pt x="5528818" y="8509"/>
                    <a:pt x="5528818" y="19050"/>
                  </a:cubicBezTo>
                  <a:lnTo>
                    <a:pt x="5528818" y="4686173"/>
                  </a:lnTo>
                  <a:cubicBezTo>
                    <a:pt x="5528818" y="4696714"/>
                    <a:pt x="5520309" y="4705223"/>
                    <a:pt x="5509768" y="4705223"/>
                  </a:cubicBezTo>
                  <a:lnTo>
                    <a:pt x="19050" y="4705223"/>
                  </a:lnTo>
                  <a:cubicBezTo>
                    <a:pt x="8509" y="4705223"/>
                    <a:pt x="0" y="4696714"/>
                    <a:pt x="0" y="4686173"/>
                  </a:cubicBezTo>
                  <a:lnTo>
                    <a:pt x="0" y="19050"/>
                  </a:lnTo>
                  <a:cubicBezTo>
                    <a:pt x="0" y="8509"/>
                    <a:pt x="8509" y="0"/>
                    <a:pt x="19050" y="0"/>
                  </a:cubicBezTo>
                  <a:moveTo>
                    <a:pt x="19050" y="38100"/>
                  </a:moveTo>
                  <a:lnTo>
                    <a:pt x="19050" y="19050"/>
                  </a:lnTo>
                  <a:lnTo>
                    <a:pt x="38100" y="19050"/>
                  </a:lnTo>
                  <a:lnTo>
                    <a:pt x="38100" y="4686173"/>
                  </a:lnTo>
                  <a:lnTo>
                    <a:pt x="19050" y="4686173"/>
                  </a:lnTo>
                  <a:lnTo>
                    <a:pt x="19050" y="4667123"/>
                  </a:lnTo>
                  <a:lnTo>
                    <a:pt x="5509768" y="4667123"/>
                  </a:lnTo>
                  <a:lnTo>
                    <a:pt x="5509768" y="4686173"/>
                  </a:lnTo>
                  <a:lnTo>
                    <a:pt x="5490718" y="4686173"/>
                  </a:lnTo>
                  <a:lnTo>
                    <a:pt x="5490718" y="19050"/>
                  </a:lnTo>
                  <a:lnTo>
                    <a:pt x="5509768" y="19050"/>
                  </a:lnTo>
                  <a:lnTo>
                    <a:pt x="5509768" y="38100"/>
                  </a:lnTo>
                  <a:lnTo>
                    <a:pt x="19050" y="38100"/>
                  </a:lnTo>
                  <a:close/>
                </a:path>
              </a:pathLst>
            </a:custGeom>
            <a:solidFill>
              <a:srgbClr val="256DCA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709146" y="2362171"/>
            <a:ext cx="3660600" cy="886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3"/>
              </a:lnSpc>
            </a:pPr>
            <a:r>
              <a:rPr lang="en-US" sz="4203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🏠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09146" y="3361144"/>
            <a:ext cx="3660600" cy="573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1" b="true">
                <a:solidFill>
                  <a:srgbClr val="256DC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Home Page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892235" y="4008206"/>
            <a:ext cx="3294412" cy="41177"/>
            <a:chOff x="0" y="0"/>
            <a:chExt cx="4392549" cy="5490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392549" cy="54864"/>
            </a:xfrm>
            <a:custGeom>
              <a:avLst/>
              <a:gdLst/>
              <a:ahLst/>
              <a:cxnLst/>
              <a:rect r="r" b="b" t="t" l="l"/>
              <a:pathLst>
                <a:path h="54864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4864"/>
                  </a:lnTo>
                  <a:lnTo>
                    <a:pt x="0" y="54864"/>
                  </a:lnTo>
                  <a:close/>
                </a:path>
              </a:pathLst>
            </a:custGeom>
            <a:solidFill>
              <a:srgbClr val="256DCA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709146" y="4153090"/>
            <a:ext cx="3660600" cy="1250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Hero section, featured categories,</a:t>
            </a:r>
          </a:p>
          <a:p>
            <a:pPr algn="ctr">
              <a:lnSpc>
                <a:spcPts val="1801"/>
              </a:lnSpc>
            </a:pPr>
            <a:r>
              <a:rPr lang="en-US" sz="1501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latest listings grid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4913595" y="2181977"/>
            <a:ext cx="4146614" cy="3528908"/>
            <a:chOff x="0" y="0"/>
            <a:chExt cx="5528818" cy="470521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19050" y="19050"/>
              <a:ext cx="5490718" cy="4667123"/>
            </a:xfrm>
            <a:custGeom>
              <a:avLst/>
              <a:gdLst/>
              <a:ahLst/>
              <a:cxnLst/>
              <a:rect r="r" b="b" t="t" l="l"/>
              <a:pathLst>
                <a:path h="4667123" w="5490718">
                  <a:moveTo>
                    <a:pt x="0" y="0"/>
                  </a:moveTo>
                  <a:lnTo>
                    <a:pt x="5490718" y="0"/>
                  </a:lnTo>
                  <a:lnTo>
                    <a:pt x="5490718" y="4667123"/>
                  </a:lnTo>
                  <a:lnTo>
                    <a:pt x="0" y="4667123"/>
                  </a:lnTo>
                  <a:close/>
                </a:path>
              </a:pathLst>
            </a:custGeom>
            <a:solidFill>
              <a:srgbClr val="1E2D40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528818" cy="4705223"/>
            </a:xfrm>
            <a:custGeom>
              <a:avLst/>
              <a:gdLst/>
              <a:ahLst/>
              <a:cxnLst/>
              <a:rect r="r" b="b" t="t" l="l"/>
              <a:pathLst>
                <a:path h="4705223" w="5528818">
                  <a:moveTo>
                    <a:pt x="19050" y="0"/>
                  </a:moveTo>
                  <a:lnTo>
                    <a:pt x="5509768" y="0"/>
                  </a:lnTo>
                  <a:cubicBezTo>
                    <a:pt x="5520309" y="0"/>
                    <a:pt x="5528818" y="8509"/>
                    <a:pt x="5528818" y="19050"/>
                  </a:cubicBezTo>
                  <a:lnTo>
                    <a:pt x="5528818" y="4686173"/>
                  </a:lnTo>
                  <a:cubicBezTo>
                    <a:pt x="5528818" y="4696714"/>
                    <a:pt x="5520309" y="4705223"/>
                    <a:pt x="5509768" y="4705223"/>
                  </a:cubicBezTo>
                  <a:lnTo>
                    <a:pt x="19050" y="4705223"/>
                  </a:lnTo>
                  <a:cubicBezTo>
                    <a:pt x="8509" y="4705223"/>
                    <a:pt x="0" y="4696714"/>
                    <a:pt x="0" y="4686173"/>
                  </a:cubicBezTo>
                  <a:lnTo>
                    <a:pt x="0" y="19050"/>
                  </a:lnTo>
                  <a:cubicBezTo>
                    <a:pt x="0" y="8509"/>
                    <a:pt x="8509" y="0"/>
                    <a:pt x="19050" y="0"/>
                  </a:cubicBezTo>
                  <a:moveTo>
                    <a:pt x="19050" y="38100"/>
                  </a:moveTo>
                  <a:lnTo>
                    <a:pt x="19050" y="19050"/>
                  </a:lnTo>
                  <a:lnTo>
                    <a:pt x="38100" y="19050"/>
                  </a:lnTo>
                  <a:lnTo>
                    <a:pt x="38100" y="4686173"/>
                  </a:lnTo>
                  <a:lnTo>
                    <a:pt x="19050" y="4686173"/>
                  </a:lnTo>
                  <a:lnTo>
                    <a:pt x="19050" y="4667123"/>
                  </a:lnTo>
                  <a:lnTo>
                    <a:pt x="5509768" y="4667123"/>
                  </a:lnTo>
                  <a:lnTo>
                    <a:pt x="5509768" y="4686173"/>
                  </a:lnTo>
                  <a:lnTo>
                    <a:pt x="5490718" y="4686173"/>
                  </a:lnTo>
                  <a:lnTo>
                    <a:pt x="5490718" y="19050"/>
                  </a:lnTo>
                  <a:lnTo>
                    <a:pt x="5509768" y="19050"/>
                  </a:lnTo>
                  <a:lnTo>
                    <a:pt x="5509768" y="38100"/>
                  </a:lnTo>
                  <a:lnTo>
                    <a:pt x="19050" y="38100"/>
                  </a:lnTo>
                  <a:close/>
                </a:path>
              </a:pathLst>
            </a:custGeom>
            <a:solidFill>
              <a:srgbClr val="06B6D4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5156597" y="2362171"/>
            <a:ext cx="3660600" cy="886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3"/>
              </a:lnSpc>
            </a:pPr>
            <a:r>
              <a:rPr lang="en-US" sz="4203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📋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156597" y="3361144"/>
            <a:ext cx="3660600" cy="573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1" b="true">
                <a:solidFill>
                  <a:srgbClr val="06B6D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Listings Page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5339696" y="4008206"/>
            <a:ext cx="3294412" cy="41177"/>
            <a:chOff x="0" y="0"/>
            <a:chExt cx="4392549" cy="5490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392549" cy="54864"/>
            </a:xfrm>
            <a:custGeom>
              <a:avLst/>
              <a:gdLst/>
              <a:ahLst/>
              <a:cxnLst/>
              <a:rect r="r" b="b" t="t" l="l"/>
              <a:pathLst>
                <a:path h="54864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4864"/>
                  </a:lnTo>
                  <a:lnTo>
                    <a:pt x="0" y="54864"/>
                  </a:lnTo>
                  <a:close/>
                </a:path>
              </a:pathLst>
            </a:custGeom>
            <a:solidFill>
              <a:srgbClr val="06B6D4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5156597" y="4153090"/>
            <a:ext cx="3660600" cy="1250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Search, filter by category/price/type,</a:t>
            </a:r>
          </a:p>
          <a:p>
            <a:pPr algn="ctr">
              <a:lnSpc>
                <a:spcPts val="1801"/>
              </a:lnSpc>
            </a:pPr>
            <a:r>
              <a:rPr lang="en-US" sz="1501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paginated results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361056" y="2181977"/>
            <a:ext cx="4146614" cy="3528908"/>
            <a:chOff x="0" y="0"/>
            <a:chExt cx="5528818" cy="470521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19050" y="19050"/>
              <a:ext cx="5490718" cy="4667123"/>
            </a:xfrm>
            <a:custGeom>
              <a:avLst/>
              <a:gdLst/>
              <a:ahLst/>
              <a:cxnLst/>
              <a:rect r="r" b="b" t="t" l="l"/>
              <a:pathLst>
                <a:path h="4667123" w="5490718">
                  <a:moveTo>
                    <a:pt x="0" y="0"/>
                  </a:moveTo>
                  <a:lnTo>
                    <a:pt x="5490718" y="0"/>
                  </a:lnTo>
                  <a:lnTo>
                    <a:pt x="5490718" y="4667123"/>
                  </a:lnTo>
                  <a:lnTo>
                    <a:pt x="0" y="4667123"/>
                  </a:lnTo>
                  <a:close/>
                </a:path>
              </a:pathLst>
            </a:custGeom>
            <a:solidFill>
              <a:srgbClr val="1E2D40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528818" cy="4705223"/>
            </a:xfrm>
            <a:custGeom>
              <a:avLst/>
              <a:gdLst/>
              <a:ahLst/>
              <a:cxnLst/>
              <a:rect r="r" b="b" t="t" l="l"/>
              <a:pathLst>
                <a:path h="4705223" w="5528818">
                  <a:moveTo>
                    <a:pt x="19050" y="0"/>
                  </a:moveTo>
                  <a:lnTo>
                    <a:pt x="5509768" y="0"/>
                  </a:lnTo>
                  <a:cubicBezTo>
                    <a:pt x="5520309" y="0"/>
                    <a:pt x="5528818" y="8509"/>
                    <a:pt x="5528818" y="19050"/>
                  </a:cubicBezTo>
                  <a:lnTo>
                    <a:pt x="5528818" y="4686173"/>
                  </a:lnTo>
                  <a:cubicBezTo>
                    <a:pt x="5528818" y="4696714"/>
                    <a:pt x="5520309" y="4705223"/>
                    <a:pt x="5509768" y="4705223"/>
                  </a:cubicBezTo>
                  <a:lnTo>
                    <a:pt x="19050" y="4705223"/>
                  </a:lnTo>
                  <a:cubicBezTo>
                    <a:pt x="8509" y="4705223"/>
                    <a:pt x="0" y="4696714"/>
                    <a:pt x="0" y="4686173"/>
                  </a:cubicBezTo>
                  <a:lnTo>
                    <a:pt x="0" y="19050"/>
                  </a:lnTo>
                  <a:cubicBezTo>
                    <a:pt x="0" y="8509"/>
                    <a:pt x="8509" y="0"/>
                    <a:pt x="19050" y="0"/>
                  </a:cubicBezTo>
                  <a:moveTo>
                    <a:pt x="19050" y="38100"/>
                  </a:moveTo>
                  <a:lnTo>
                    <a:pt x="19050" y="19050"/>
                  </a:lnTo>
                  <a:lnTo>
                    <a:pt x="38100" y="19050"/>
                  </a:lnTo>
                  <a:lnTo>
                    <a:pt x="38100" y="4686173"/>
                  </a:lnTo>
                  <a:lnTo>
                    <a:pt x="19050" y="4686173"/>
                  </a:lnTo>
                  <a:lnTo>
                    <a:pt x="19050" y="4667123"/>
                  </a:lnTo>
                  <a:lnTo>
                    <a:pt x="5509768" y="4667123"/>
                  </a:lnTo>
                  <a:lnTo>
                    <a:pt x="5509768" y="4686173"/>
                  </a:lnTo>
                  <a:lnTo>
                    <a:pt x="5490718" y="4686173"/>
                  </a:lnTo>
                  <a:lnTo>
                    <a:pt x="5490718" y="19050"/>
                  </a:lnTo>
                  <a:lnTo>
                    <a:pt x="5509768" y="19050"/>
                  </a:lnTo>
                  <a:lnTo>
                    <a:pt x="5509768" y="38100"/>
                  </a:lnTo>
                  <a:lnTo>
                    <a:pt x="19050" y="38100"/>
                  </a:lnTo>
                  <a:close/>
                </a:path>
              </a:pathLst>
            </a:custGeom>
            <a:solidFill>
              <a:srgbClr val="F97316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9604057" y="2362171"/>
            <a:ext cx="3660600" cy="886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3"/>
              </a:lnSpc>
            </a:pPr>
            <a:r>
              <a:rPr lang="en-US" sz="4203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📄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604057" y="3361144"/>
            <a:ext cx="3660600" cy="573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1" b="true">
                <a:solidFill>
                  <a:srgbClr val="F9731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Listing Detail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9787157" y="4008206"/>
            <a:ext cx="3294412" cy="41177"/>
            <a:chOff x="0" y="0"/>
            <a:chExt cx="4392549" cy="5490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392549" cy="54864"/>
            </a:xfrm>
            <a:custGeom>
              <a:avLst/>
              <a:gdLst/>
              <a:ahLst/>
              <a:cxnLst/>
              <a:rect r="r" b="b" t="t" l="l"/>
              <a:pathLst>
                <a:path h="54864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4864"/>
                  </a:lnTo>
                  <a:lnTo>
                    <a:pt x="0" y="54864"/>
                  </a:lnTo>
                  <a:close/>
                </a:path>
              </a:pathLst>
            </a:custGeom>
            <a:solidFill>
              <a:srgbClr val="F97316"/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9604057" y="4153090"/>
            <a:ext cx="3660600" cy="1250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Image gallery, seller info, Buy Now,</a:t>
            </a:r>
          </a:p>
          <a:p>
            <a:pPr algn="ctr">
              <a:lnSpc>
                <a:spcPts val="1801"/>
              </a:lnSpc>
            </a:pPr>
            <a:r>
              <a:rPr lang="en-US" sz="1501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Message Seller, Save, Reviews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3808516" y="2181977"/>
            <a:ext cx="4146614" cy="3528908"/>
            <a:chOff x="0" y="0"/>
            <a:chExt cx="5528818" cy="470521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9050" y="19050"/>
              <a:ext cx="5490718" cy="4667123"/>
            </a:xfrm>
            <a:custGeom>
              <a:avLst/>
              <a:gdLst/>
              <a:ahLst/>
              <a:cxnLst/>
              <a:rect r="r" b="b" t="t" l="l"/>
              <a:pathLst>
                <a:path h="4667123" w="5490718">
                  <a:moveTo>
                    <a:pt x="0" y="0"/>
                  </a:moveTo>
                  <a:lnTo>
                    <a:pt x="5490718" y="0"/>
                  </a:lnTo>
                  <a:lnTo>
                    <a:pt x="5490718" y="4667123"/>
                  </a:lnTo>
                  <a:lnTo>
                    <a:pt x="0" y="4667123"/>
                  </a:lnTo>
                  <a:close/>
                </a:path>
              </a:pathLst>
            </a:custGeom>
            <a:solidFill>
              <a:srgbClr val="1E2D40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528818" cy="4705223"/>
            </a:xfrm>
            <a:custGeom>
              <a:avLst/>
              <a:gdLst/>
              <a:ahLst/>
              <a:cxnLst/>
              <a:rect r="r" b="b" t="t" l="l"/>
              <a:pathLst>
                <a:path h="4705223" w="5528818">
                  <a:moveTo>
                    <a:pt x="19050" y="0"/>
                  </a:moveTo>
                  <a:lnTo>
                    <a:pt x="5509768" y="0"/>
                  </a:lnTo>
                  <a:cubicBezTo>
                    <a:pt x="5520309" y="0"/>
                    <a:pt x="5528818" y="8509"/>
                    <a:pt x="5528818" y="19050"/>
                  </a:cubicBezTo>
                  <a:lnTo>
                    <a:pt x="5528818" y="4686173"/>
                  </a:lnTo>
                  <a:cubicBezTo>
                    <a:pt x="5528818" y="4696714"/>
                    <a:pt x="5520309" y="4705223"/>
                    <a:pt x="5509768" y="4705223"/>
                  </a:cubicBezTo>
                  <a:lnTo>
                    <a:pt x="19050" y="4705223"/>
                  </a:lnTo>
                  <a:cubicBezTo>
                    <a:pt x="8509" y="4705223"/>
                    <a:pt x="0" y="4696714"/>
                    <a:pt x="0" y="4686173"/>
                  </a:cubicBezTo>
                  <a:lnTo>
                    <a:pt x="0" y="19050"/>
                  </a:lnTo>
                  <a:cubicBezTo>
                    <a:pt x="0" y="8509"/>
                    <a:pt x="8509" y="0"/>
                    <a:pt x="19050" y="0"/>
                  </a:cubicBezTo>
                  <a:moveTo>
                    <a:pt x="19050" y="38100"/>
                  </a:moveTo>
                  <a:lnTo>
                    <a:pt x="19050" y="19050"/>
                  </a:lnTo>
                  <a:lnTo>
                    <a:pt x="38100" y="19050"/>
                  </a:lnTo>
                  <a:lnTo>
                    <a:pt x="38100" y="4686173"/>
                  </a:lnTo>
                  <a:lnTo>
                    <a:pt x="19050" y="4686173"/>
                  </a:lnTo>
                  <a:lnTo>
                    <a:pt x="19050" y="4667123"/>
                  </a:lnTo>
                  <a:lnTo>
                    <a:pt x="5509768" y="4667123"/>
                  </a:lnTo>
                  <a:lnTo>
                    <a:pt x="5509768" y="4686173"/>
                  </a:lnTo>
                  <a:lnTo>
                    <a:pt x="5490718" y="4686173"/>
                  </a:lnTo>
                  <a:lnTo>
                    <a:pt x="5490718" y="19050"/>
                  </a:lnTo>
                  <a:lnTo>
                    <a:pt x="5509768" y="19050"/>
                  </a:lnTo>
                  <a:lnTo>
                    <a:pt x="5509768" y="38100"/>
                  </a:lnTo>
                  <a:lnTo>
                    <a:pt x="19050" y="38100"/>
                  </a:lnTo>
                  <a:close/>
                </a:path>
              </a:pathLst>
            </a:custGeom>
            <a:solidFill>
              <a:srgbClr val="16A34A"/>
            </a:solid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14051518" y="2362171"/>
            <a:ext cx="3660600" cy="886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3"/>
              </a:lnSpc>
            </a:pPr>
            <a:r>
              <a:rPr lang="en-US" sz="4203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➕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4051518" y="3361144"/>
            <a:ext cx="3660600" cy="573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1" b="true">
                <a:solidFill>
                  <a:srgbClr val="16A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Create Listing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14234617" y="4008206"/>
            <a:ext cx="3294412" cy="41177"/>
            <a:chOff x="0" y="0"/>
            <a:chExt cx="4392549" cy="5490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392549" cy="54864"/>
            </a:xfrm>
            <a:custGeom>
              <a:avLst/>
              <a:gdLst/>
              <a:ahLst/>
              <a:cxnLst/>
              <a:rect r="r" b="b" t="t" l="l"/>
              <a:pathLst>
                <a:path h="54864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4864"/>
                  </a:lnTo>
                  <a:lnTo>
                    <a:pt x="0" y="54864"/>
                  </a:lnTo>
                  <a:close/>
                </a:path>
              </a:pathLst>
            </a:custGeom>
            <a:solidFill>
              <a:srgbClr val="16A34A"/>
            </a:solid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14051518" y="4153090"/>
            <a:ext cx="3660600" cy="1250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Multi-field form: type, category,</a:t>
            </a:r>
          </a:p>
          <a:p>
            <a:pPr algn="ctr">
              <a:lnSpc>
                <a:spcPts val="1801"/>
              </a:lnSpc>
            </a:pPr>
            <a:r>
              <a:rPr lang="en-US" sz="1501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price, images, location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466134" y="5956821"/>
            <a:ext cx="4146614" cy="3528908"/>
            <a:chOff x="0" y="0"/>
            <a:chExt cx="5528818" cy="470521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19050" y="19050"/>
              <a:ext cx="5490718" cy="4667123"/>
            </a:xfrm>
            <a:custGeom>
              <a:avLst/>
              <a:gdLst/>
              <a:ahLst/>
              <a:cxnLst/>
              <a:rect r="r" b="b" t="t" l="l"/>
              <a:pathLst>
                <a:path h="4667123" w="5490718">
                  <a:moveTo>
                    <a:pt x="0" y="0"/>
                  </a:moveTo>
                  <a:lnTo>
                    <a:pt x="5490718" y="0"/>
                  </a:lnTo>
                  <a:lnTo>
                    <a:pt x="5490718" y="4667123"/>
                  </a:lnTo>
                  <a:lnTo>
                    <a:pt x="0" y="4667123"/>
                  </a:lnTo>
                  <a:close/>
                </a:path>
              </a:pathLst>
            </a:custGeom>
            <a:solidFill>
              <a:srgbClr val="1E2D40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528818" cy="4705223"/>
            </a:xfrm>
            <a:custGeom>
              <a:avLst/>
              <a:gdLst/>
              <a:ahLst/>
              <a:cxnLst/>
              <a:rect r="r" b="b" t="t" l="l"/>
              <a:pathLst>
                <a:path h="4705223" w="5528818">
                  <a:moveTo>
                    <a:pt x="19050" y="0"/>
                  </a:moveTo>
                  <a:lnTo>
                    <a:pt x="5509768" y="0"/>
                  </a:lnTo>
                  <a:cubicBezTo>
                    <a:pt x="5520309" y="0"/>
                    <a:pt x="5528818" y="8509"/>
                    <a:pt x="5528818" y="19050"/>
                  </a:cubicBezTo>
                  <a:lnTo>
                    <a:pt x="5528818" y="4686173"/>
                  </a:lnTo>
                  <a:cubicBezTo>
                    <a:pt x="5528818" y="4696714"/>
                    <a:pt x="5520309" y="4705223"/>
                    <a:pt x="5509768" y="4705223"/>
                  </a:cubicBezTo>
                  <a:lnTo>
                    <a:pt x="19050" y="4705223"/>
                  </a:lnTo>
                  <a:cubicBezTo>
                    <a:pt x="8509" y="4705223"/>
                    <a:pt x="0" y="4696714"/>
                    <a:pt x="0" y="4686173"/>
                  </a:cubicBezTo>
                  <a:lnTo>
                    <a:pt x="0" y="19050"/>
                  </a:lnTo>
                  <a:cubicBezTo>
                    <a:pt x="0" y="8509"/>
                    <a:pt x="8509" y="0"/>
                    <a:pt x="19050" y="0"/>
                  </a:cubicBezTo>
                  <a:moveTo>
                    <a:pt x="19050" y="38100"/>
                  </a:moveTo>
                  <a:lnTo>
                    <a:pt x="19050" y="19050"/>
                  </a:lnTo>
                  <a:lnTo>
                    <a:pt x="38100" y="19050"/>
                  </a:lnTo>
                  <a:lnTo>
                    <a:pt x="38100" y="4686173"/>
                  </a:lnTo>
                  <a:lnTo>
                    <a:pt x="19050" y="4686173"/>
                  </a:lnTo>
                  <a:lnTo>
                    <a:pt x="19050" y="4667123"/>
                  </a:lnTo>
                  <a:lnTo>
                    <a:pt x="5509768" y="4667123"/>
                  </a:lnTo>
                  <a:lnTo>
                    <a:pt x="5509768" y="4686173"/>
                  </a:lnTo>
                  <a:lnTo>
                    <a:pt x="5490718" y="4686173"/>
                  </a:lnTo>
                  <a:lnTo>
                    <a:pt x="5490718" y="19050"/>
                  </a:lnTo>
                  <a:lnTo>
                    <a:pt x="5509768" y="19050"/>
                  </a:lnTo>
                  <a:lnTo>
                    <a:pt x="5509768" y="38100"/>
                  </a:lnTo>
                  <a:lnTo>
                    <a:pt x="19050" y="38100"/>
                  </a:lnTo>
                  <a:close/>
                </a:path>
              </a:pathLst>
            </a:custGeom>
            <a:solidFill>
              <a:srgbClr val="256DCA"/>
            </a:solidFill>
          </p:spPr>
        </p:sp>
      </p:grpSp>
      <p:sp>
        <p:nvSpPr>
          <p:cNvPr name="TextBox 43" id="43"/>
          <p:cNvSpPr txBox="true"/>
          <p:nvPr/>
        </p:nvSpPr>
        <p:spPr>
          <a:xfrm rot="0">
            <a:off x="709146" y="6137024"/>
            <a:ext cx="3660600" cy="886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3"/>
              </a:lnSpc>
            </a:pPr>
            <a:r>
              <a:rPr lang="en-US" sz="4203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💬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709146" y="7135987"/>
            <a:ext cx="3660600" cy="573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1" b="true">
                <a:solidFill>
                  <a:srgbClr val="256DC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Messages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892235" y="7783049"/>
            <a:ext cx="3294412" cy="41177"/>
            <a:chOff x="0" y="0"/>
            <a:chExt cx="4392549" cy="54902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392549" cy="54864"/>
            </a:xfrm>
            <a:custGeom>
              <a:avLst/>
              <a:gdLst/>
              <a:ahLst/>
              <a:cxnLst/>
              <a:rect r="r" b="b" t="t" l="l"/>
              <a:pathLst>
                <a:path h="54864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4864"/>
                  </a:lnTo>
                  <a:lnTo>
                    <a:pt x="0" y="54864"/>
                  </a:lnTo>
                  <a:close/>
                </a:path>
              </a:pathLst>
            </a:custGeom>
            <a:solidFill>
              <a:srgbClr val="256DCA"/>
            </a:solidFill>
          </p:spPr>
        </p:sp>
      </p:grpSp>
      <p:sp>
        <p:nvSpPr>
          <p:cNvPr name="TextBox 47" id="47"/>
          <p:cNvSpPr txBox="true"/>
          <p:nvPr/>
        </p:nvSpPr>
        <p:spPr>
          <a:xfrm rot="0">
            <a:off x="709146" y="7927943"/>
            <a:ext cx="3660600" cy="1250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Conversation list + real-time</a:t>
            </a:r>
          </a:p>
          <a:p>
            <a:pPr algn="ctr">
              <a:lnSpc>
                <a:spcPts val="1801"/>
              </a:lnSpc>
            </a:pPr>
            <a:r>
              <a:rPr lang="en-US" sz="1501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poll-based chat thread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4913595" y="5956821"/>
            <a:ext cx="4146614" cy="3528908"/>
            <a:chOff x="0" y="0"/>
            <a:chExt cx="5528818" cy="470521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19050" y="19050"/>
              <a:ext cx="5490718" cy="4667123"/>
            </a:xfrm>
            <a:custGeom>
              <a:avLst/>
              <a:gdLst/>
              <a:ahLst/>
              <a:cxnLst/>
              <a:rect r="r" b="b" t="t" l="l"/>
              <a:pathLst>
                <a:path h="4667123" w="5490718">
                  <a:moveTo>
                    <a:pt x="0" y="0"/>
                  </a:moveTo>
                  <a:lnTo>
                    <a:pt x="5490718" y="0"/>
                  </a:lnTo>
                  <a:lnTo>
                    <a:pt x="5490718" y="4667123"/>
                  </a:lnTo>
                  <a:lnTo>
                    <a:pt x="0" y="4667123"/>
                  </a:lnTo>
                  <a:close/>
                </a:path>
              </a:pathLst>
            </a:custGeom>
            <a:solidFill>
              <a:srgbClr val="1E2D40"/>
            </a:solidFill>
          </p:spPr>
        </p:sp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5528818" cy="4705223"/>
            </a:xfrm>
            <a:custGeom>
              <a:avLst/>
              <a:gdLst/>
              <a:ahLst/>
              <a:cxnLst/>
              <a:rect r="r" b="b" t="t" l="l"/>
              <a:pathLst>
                <a:path h="4705223" w="5528818">
                  <a:moveTo>
                    <a:pt x="19050" y="0"/>
                  </a:moveTo>
                  <a:lnTo>
                    <a:pt x="5509768" y="0"/>
                  </a:lnTo>
                  <a:cubicBezTo>
                    <a:pt x="5520309" y="0"/>
                    <a:pt x="5528818" y="8509"/>
                    <a:pt x="5528818" y="19050"/>
                  </a:cubicBezTo>
                  <a:lnTo>
                    <a:pt x="5528818" y="4686173"/>
                  </a:lnTo>
                  <a:cubicBezTo>
                    <a:pt x="5528818" y="4696714"/>
                    <a:pt x="5520309" y="4705223"/>
                    <a:pt x="5509768" y="4705223"/>
                  </a:cubicBezTo>
                  <a:lnTo>
                    <a:pt x="19050" y="4705223"/>
                  </a:lnTo>
                  <a:cubicBezTo>
                    <a:pt x="8509" y="4705223"/>
                    <a:pt x="0" y="4696714"/>
                    <a:pt x="0" y="4686173"/>
                  </a:cubicBezTo>
                  <a:lnTo>
                    <a:pt x="0" y="19050"/>
                  </a:lnTo>
                  <a:cubicBezTo>
                    <a:pt x="0" y="8509"/>
                    <a:pt x="8509" y="0"/>
                    <a:pt x="19050" y="0"/>
                  </a:cubicBezTo>
                  <a:moveTo>
                    <a:pt x="19050" y="38100"/>
                  </a:moveTo>
                  <a:lnTo>
                    <a:pt x="19050" y="19050"/>
                  </a:lnTo>
                  <a:lnTo>
                    <a:pt x="38100" y="19050"/>
                  </a:lnTo>
                  <a:lnTo>
                    <a:pt x="38100" y="4686173"/>
                  </a:lnTo>
                  <a:lnTo>
                    <a:pt x="19050" y="4686173"/>
                  </a:lnTo>
                  <a:lnTo>
                    <a:pt x="19050" y="4667123"/>
                  </a:lnTo>
                  <a:lnTo>
                    <a:pt x="5509768" y="4667123"/>
                  </a:lnTo>
                  <a:lnTo>
                    <a:pt x="5509768" y="4686173"/>
                  </a:lnTo>
                  <a:lnTo>
                    <a:pt x="5490718" y="4686173"/>
                  </a:lnTo>
                  <a:lnTo>
                    <a:pt x="5490718" y="19050"/>
                  </a:lnTo>
                  <a:lnTo>
                    <a:pt x="5509768" y="19050"/>
                  </a:lnTo>
                  <a:lnTo>
                    <a:pt x="5509768" y="38100"/>
                  </a:lnTo>
                  <a:lnTo>
                    <a:pt x="19050" y="38100"/>
                  </a:lnTo>
                  <a:close/>
                </a:path>
              </a:pathLst>
            </a:custGeom>
            <a:solidFill>
              <a:srgbClr val="06B6D4"/>
            </a:solidFill>
          </p:spPr>
        </p:sp>
      </p:grpSp>
      <p:sp>
        <p:nvSpPr>
          <p:cNvPr name="TextBox 51" id="51"/>
          <p:cNvSpPr txBox="true"/>
          <p:nvPr/>
        </p:nvSpPr>
        <p:spPr>
          <a:xfrm rot="0">
            <a:off x="5156597" y="6137024"/>
            <a:ext cx="3660600" cy="886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3"/>
              </a:lnSpc>
            </a:pPr>
            <a:r>
              <a:rPr lang="en-US" sz="4203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📦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5156597" y="7135987"/>
            <a:ext cx="3660600" cy="573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1" b="true">
                <a:solidFill>
                  <a:srgbClr val="06B6D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Orders</a:t>
            </a:r>
          </a:p>
        </p:txBody>
      </p:sp>
      <p:grpSp>
        <p:nvGrpSpPr>
          <p:cNvPr name="Group 53" id="53"/>
          <p:cNvGrpSpPr/>
          <p:nvPr/>
        </p:nvGrpSpPr>
        <p:grpSpPr>
          <a:xfrm rot="0">
            <a:off x="5339696" y="7783049"/>
            <a:ext cx="3294412" cy="41177"/>
            <a:chOff x="0" y="0"/>
            <a:chExt cx="4392549" cy="54902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392549" cy="54864"/>
            </a:xfrm>
            <a:custGeom>
              <a:avLst/>
              <a:gdLst/>
              <a:ahLst/>
              <a:cxnLst/>
              <a:rect r="r" b="b" t="t" l="l"/>
              <a:pathLst>
                <a:path h="54864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4864"/>
                  </a:lnTo>
                  <a:lnTo>
                    <a:pt x="0" y="54864"/>
                  </a:lnTo>
                  <a:close/>
                </a:path>
              </a:pathLst>
            </a:custGeom>
            <a:solidFill>
              <a:srgbClr val="06B6D4"/>
            </a:solidFill>
          </p:spPr>
        </p:sp>
      </p:grpSp>
      <p:sp>
        <p:nvSpPr>
          <p:cNvPr name="TextBox 55" id="55"/>
          <p:cNvSpPr txBox="true"/>
          <p:nvPr/>
        </p:nvSpPr>
        <p:spPr>
          <a:xfrm rot="0">
            <a:off x="5156597" y="7927943"/>
            <a:ext cx="3660600" cy="1250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Buyer &amp; seller tabs, status updates,</a:t>
            </a:r>
          </a:p>
          <a:p>
            <a:pPr algn="ctr">
              <a:lnSpc>
                <a:spcPts val="1801"/>
              </a:lnSpc>
            </a:pPr>
            <a:r>
              <a:rPr lang="en-US" sz="1501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order history</a:t>
            </a:r>
          </a:p>
        </p:txBody>
      </p:sp>
      <p:grpSp>
        <p:nvGrpSpPr>
          <p:cNvPr name="Group 56" id="56"/>
          <p:cNvGrpSpPr/>
          <p:nvPr/>
        </p:nvGrpSpPr>
        <p:grpSpPr>
          <a:xfrm rot="0">
            <a:off x="9361056" y="5956821"/>
            <a:ext cx="4146614" cy="3528908"/>
            <a:chOff x="0" y="0"/>
            <a:chExt cx="5528818" cy="470521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19050" y="19050"/>
              <a:ext cx="5490718" cy="4667123"/>
            </a:xfrm>
            <a:custGeom>
              <a:avLst/>
              <a:gdLst/>
              <a:ahLst/>
              <a:cxnLst/>
              <a:rect r="r" b="b" t="t" l="l"/>
              <a:pathLst>
                <a:path h="4667123" w="5490718">
                  <a:moveTo>
                    <a:pt x="0" y="0"/>
                  </a:moveTo>
                  <a:lnTo>
                    <a:pt x="5490718" y="0"/>
                  </a:lnTo>
                  <a:lnTo>
                    <a:pt x="5490718" y="4667123"/>
                  </a:lnTo>
                  <a:lnTo>
                    <a:pt x="0" y="4667123"/>
                  </a:lnTo>
                  <a:close/>
                </a:path>
              </a:pathLst>
            </a:custGeom>
            <a:solidFill>
              <a:srgbClr val="1E2D40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5528818" cy="4705223"/>
            </a:xfrm>
            <a:custGeom>
              <a:avLst/>
              <a:gdLst/>
              <a:ahLst/>
              <a:cxnLst/>
              <a:rect r="r" b="b" t="t" l="l"/>
              <a:pathLst>
                <a:path h="4705223" w="5528818">
                  <a:moveTo>
                    <a:pt x="19050" y="0"/>
                  </a:moveTo>
                  <a:lnTo>
                    <a:pt x="5509768" y="0"/>
                  </a:lnTo>
                  <a:cubicBezTo>
                    <a:pt x="5520309" y="0"/>
                    <a:pt x="5528818" y="8509"/>
                    <a:pt x="5528818" y="19050"/>
                  </a:cubicBezTo>
                  <a:lnTo>
                    <a:pt x="5528818" y="4686173"/>
                  </a:lnTo>
                  <a:cubicBezTo>
                    <a:pt x="5528818" y="4696714"/>
                    <a:pt x="5520309" y="4705223"/>
                    <a:pt x="5509768" y="4705223"/>
                  </a:cubicBezTo>
                  <a:lnTo>
                    <a:pt x="19050" y="4705223"/>
                  </a:lnTo>
                  <a:cubicBezTo>
                    <a:pt x="8509" y="4705223"/>
                    <a:pt x="0" y="4696714"/>
                    <a:pt x="0" y="4686173"/>
                  </a:cubicBezTo>
                  <a:lnTo>
                    <a:pt x="0" y="19050"/>
                  </a:lnTo>
                  <a:cubicBezTo>
                    <a:pt x="0" y="8509"/>
                    <a:pt x="8509" y="0"/>
                    <a:pt x="19050" y="0"/>
                  </a:cubicBezTo>
                  <a:moveTo>
                    <a:pt x="19050" y="38100"/>
                  </a:moveTo>
                  <a:lnTo>
                    <a:pt x="19050" y="19050"/>
                  </a:lnTo>
                  <a:lnTo>
                    <a:pt x="38100" y="19050"/>
                  </a:lnTo>
                  <a:lnTo>
                    <a:pt x="38100" y="4686173"/>
                  </a:lnTo>
                  <a:lnTo>
                    <a:pt x="19050" y="4686173"/>
                  </a:lnTo>
                  <a:lnTo>
                    <a:pt x="19050" y="4667123"/>
                  </a:lnTo>
                  <a:lnTo>
                    <a:pt x="5509768" y="4667123"/>
                  </a:lnTo>
                  <a:lnTo>
                    <a:pt x="5509768" y="4686173"/>
                  </a:lnTo>
                  <a:lnTo>
                    <a:pt x="5490718" y="4686173"/>
                  </a:lnTo>
                  <a:lnTo>
                    <a:pt x="5490718" y="19050"/>
                  </a:lnTo>
                  <a:lnTo>
                    <a:pt x="5509768" y="19050"/>
                  </a:lnTo>
                  <a:lnTo>
                    <a:pt x="5509768" y="38100"/>
                  </a:lnTo>
                  <a:lnTo>
                    <a:pt x="19050" y="38100"/>
                  </a:lnTo>
                  <a:close/>
                </a:path>
              </a:pathLst>
            </a:custGeom>
            <a:solidFill>
              <a:srgbClr val="F97316"/>
            </a:solidFill>
          </p:spPr>
        </p:sp>
      </p:grpSp>
      <p:sp>
        <p:nvSpPr>
          <p:cNvPr name="TextBox 59" id="59"/>
          <p:cNvSpPr txBox="true"/>
          <p:nvPr/>
        </p:nvSpPr>
        <p:spPr>
          <a:xfrm rot="0">
            <a:off x="9604057" y="6137024"/>
            <a:ext cx="3660600" cy="886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3"/>
              </a:lnSpc>
            </a:pPr>
            <a:r>
              <a:rPr lang="en-US" sz="4203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👤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9604057" y="7135987"/>
            <a:ext cx="3660600" cy="573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1" b="true">
                <a:solidFill>
                  <a:srgbClr val="F9731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Profile</a:t>
            </a:r>
          </a:p>
        </p:txBody>
      </p:sp>
      <p:grpSp>
        <p:nvGrpSpPr>
          <p:cNvPr name="Group 61" id="61"/>
          <p:cNvGrpSpPr/>
          <p:nvPr/>
        </p:nvGrpSpPr>
        <p:grpSpPr>
          <a:xfrm rot="0">
            <a:off x="9787157" y="7783049"/>
            <a:ext cx="3294412" cy="41177"/>
            <a:chOff x="0" y="0"/>
            <a:chExt cx="4392549" cy="54902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4392549" cy="54864"/>
            </a:xfrm>
            <a:custGeom>
              <a:avLst/>
              <a:gdLst/>
              <a:ahLst/>
              <a:cxnLst/>
              <a:rect r="r" b="b" t="t" l="l"/>
              <a:pathLst>
                <a:path h="54864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4864"/>
                  </a:lnTo>
                  <a:lnTo>
                    <a:pt x="0" y="54864"/>
                  </a:lnTo>
                  <a:close/>
                </a:path>
              </a:pathLst>
            </a:custGeom>
            <a:solidFill>
              <a:srgbClr val="F97316"/>
            </a:solidFill>
          </p:spPr>
        </p:sp>
      </p:grpSp>
      <p:sp>
        <p:nvSpPr>
          <p:cNvPr name="TextBox 63" id="63"/>
          <p:cNvSpPr txBox="true"/>
          <p:nvPr/>
        </p:nvSpPr>
        <p:spPr>
          <a:xfrm rot="0">
            <a:off x="9604057" y="7927943"/>
            <a:ext cx="3660600" cy="1250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Listings, reviews, saved items,</a:t>
            </a:r>
          </a:p>
          <a:p>
            <a:pPr algn="ctr">
              <a:lnSpc>
                <a:spcPts val="1801"/>
              </a:lnSpc>
            </a:pPr>
            <a:r>
              <a:rPr lang="en-US" sz="1501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Edit Profile button</a:t>
            </a:r>
          </a:p>
        </p:txBody>
      </p:sp>
      <p:grpSp>
        <p:nvGrpSpPr>
          <p:cNvPr name="Group 64" id="64"/>
          <p:cNvGrpSpPr/>
          <p:nvPr/>
        </p:nvGrpSpPr>
        <p:grpSpPr>
          <a:xfrm rot="0">
            <a:off x="13808516" y="5956821"/>
            <a:ext cx="4146614" cy="3528908"/>
            <a:chOff x="0" y="0"/>
            <a:chExt cx="5528818" cy="470521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19050" y="19050"/>
              <a:ext cx="5490718" cy="4667123"/>
            </a:xfrm>
            <a:custGeom>
              <a:avLst/>
              <a:gdLst/>
              <a:ahLst/>
              <a:cxnLst/>
              <a:rect r="r" b="b" t="t" l="l"/>
              <a:pathLst>
                <a:path h="4667123" w="5490718">
                  <a:moveTo>
                    <a:pt x="0" y="0"/>
                  </a:moveTo>
                  <a:lnTo>
                    <a:pt x="5490718" y="0"/>
                  </a:lnTo>
                  <a:lnTo>
                    <a:pt x="5490718" y="4667123"/>
                  </a:lnTo>
                  <a:lnTo>
                    <a:pt x="0" y="4667123"/>
                  </a:lnTo>
                  <a:close/>
                </a:path>
              </a:pathLst>
            </a:custGeom>
            <a:solidFill>
              <a:srgbClr val="1E2D40"/>
            </a:solidFill>
          </p:spPr>
        </p:sp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5528818" cy="4705223"/>
            </a:xfrm>
            <a:custGeom>
              <a:avLst/>
              <a:gdLst/>
              <a:ahLst/>
              <a:cxnLst/>
              <a:rect r="r" b="b" t="t" l="l"/>
              <a:pathLst>
                <a:path h="4705223" w="5528818">
                  <a:moveTo>
                    <a:pt x="19050" y="0"/>
                  </a:moveTo>
                  <a:lnTo>
                    <a:pt x="5509768" y="0"/>
                  </a:lnTo>
                  <a:cubicBezTo>
                    <a:pt x="5520309" y="0"/>
                    <a:pt x="5528818" y="8509"/>
                    <a:pt x="5528818" y="19050"/>
                  </a:cubicBezTo>
                  <a:lnTo>
                    <a:pt x="5528818" y="4686173"/>
                  </a:lnTo>
                  <a:cubicBezTo>
                    <a:pt x="5528818" y="4696714"/>
                    <a:pt x="5520309" y="4705223"/>
                    <a:pt x="5509768" y="4705223"/>
                  </a:cubicBezTo>
                  <a:lnTo>
                    <a:pt x="19050" y="4705223"/>
                  </a:lnTo>
                  <a:cubicBezTo>
                    <a:pt x="8509" y="4705223"/>
                    <a:pt x="0" y="4696714"/>
                    <a:pt x="0" y="4686173"/>
                  </a:cubicBezTo>
                  <a:lnTo>
                    <a:pt x="0" y="19050"/>
                  </a:lnTo>
                  <a:cubicBezTo>
                    <a:pt x="0" y="8509"/>
                    <a:pt x="8509" y="0"/>
                    <a:pt x="19050" y="0"/>
                  </a:cubicBezTo>
                  <a:moveTo>
                    <a:pt x="19050" y="38100"/>
                  </a:moveTo>
                  <a:lnTo>
                    <a:pt x="19050" y="19050"/>
                  </a:lnTo>
                  <a:lnTo>
                    <a:pt x="38100" y="19050"/>
                  </a:lnTo>
                  <a:lnTo>
                    <a:pt x="38100" y="4686173"/>
                  </a:lnTo>
                  <a:lnTo>
                    <a:pt x="19050" y="4686173"/>
                  </a:lnTo>
                  <a:lnTo>
                    <a:pt x="19050" y="4667123"/>
                  </a:lnTo>
                  <a:lnTo>
                    <a:pt x="5509768" y="4667123"/>
                  </a:lnTo>
                  <a:lnTo>
                    <a:pt x="5509768" y="4686173"/>
                  </a:lnTo>
                  <a:lnTo>
                    <a:pt x="5490718" y="4686173"/>
                  </a:lnTo>
                  <a:lnTo>
                    <a:pt x="5490718" y="19050"/>
                  </a:lnTo>
                  <a:lnTo>
                    <a:pt x="5509768" y="19050"/>
                  </a:lnTo>
                  <a:lnTo>
                    <a:pt x="5509768" y="38100"/>
                  </a:lnTo>
                  <a:lnTo>
                    <a:pt x="19050" y="38100"/>
                  </a:lnTo>
                  <a:close/>
                </a:path>
              </a:pathLst>
            </a:custGeom>
            <a:solidFill>
              <a:srgbClr val="7C3AED"/>
            </a:solidFill>
          </p:spPr>
        </p:sp>
      </p:grpSp>
      <p:sp>
        <p:nvSpPr>
          <p:cNvPr name="TextBox 67" id="67"/>
          <p:cNvSpPr txBox="true"/>
          <p:nvPr/>
        </p:nvSpPr>
        <p:spPr>
          <a:xfrm rot="0">
            <a:off x="14051518" y="6137024"/>
            <a:ext cx="3660600" cy="886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3"/>
              </a:lnSpc>
            </a:pPr>
            <a:r>
              <a:rPr lang="en-US" sz="4203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🛡️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4051518" y="7135987"/>
            <a:ext cx="3660600" cy="573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1" b="true">
                <a:solidFill>
                  <a:srgbClr val="7C3AE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Admin Dashboard</a:t>
            </a:r>
          </a:p>
        </p:txBody>
      </p:sp>
      <p:grpSp>
        <p:nvGrpSpPr>
          <p:cNvPr name="Group 69" id="69"/>
          <p:cNvGrpSpPr/>
          <p:nvPr/>
        </p:nvGrpSpPr>
        <p:grpSpPr>
          <a:xfrm rot="0">
            <a:off x="14234617" y="7783049"/>
            <a:ext cx="3294412" cy="41177"/>
            <a:chOff x="0" y="0"/>
            <a:chExt cx="4392549" cy="54902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4392549" cy="54864"/>
            </a:xfrm>
            <a:custGeom>
              <a:avLst/>
              <a:gdLst/>
              <a:ahLst/>
              <a:cxnLst/>
              <a:rect r="r" b="b" t="t" l="l"/>
              <a:pathLst>
                <a:path h="54864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4864"/>
                  </a:lnTo>
                  <a:lnTo>
                    <a:pt x="0" y="54864"/>
                  </a:lnTo>
                  <a:close/>
                </a:path>
              </a:pathLst>
            </a:custGeom>
            <a:solidFill>
              <a:srgbClr val="7C3AED"/>
            </a:solidFill>
          </p:spPr>
        </p:sp>
      </p:grpSp>
      <p:sp>
        <p:nvSpPr>
          <p:cNvPr name="TextBox 71" id="71"/>
          <p:cNvSpPr txBox="true"/>
          <p:nvPr/>
        </p:nvSpPr>
        <p:spPr>
          <a:xfrm rot="0">
            <a:off x="14051518" y="7927943"/>
            <a:ext cx="3660600" cy="1250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User management, listing moderation,</a:t>
            </a:r>
          </a:p>
          <a:p>
            <a:pPr algn="ctr">
              <a:lnSpc>
                <a:spcPts val="1801"/>
              </a:lnSpc>
            </a:pPr>
            <a:r>
              <a:rPr lang="en-US" sz="1501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platform stats overview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10295039"/>
            <a:chOff x="0" y="0"/>
            <a:chExt cx="24396967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97725" cy="1921745"/>
            <a:chOff x="0" y="0"/>
            <a:chExt cx="24396967" cy="256232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96954" cy="2562352"/>
            </a:xfrm>
            <a:custGeom>
              <a:avLst/>
              <a:gdLst/>
              <a:ahLst/>
              <a:cxnLst/>
              <a:rect r="r" b="b" t="t" l="l"/>
              <a:pathLst>
                <a:path h="2562352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2562352"/>
                  </a:lnTo>
                  <a:lnTo>
                    <a:pt x="0" y="2562352"/>
                  </a:lnTo>
                  <a:close/>
                </a:path>
              </a:pathLst>
            </a:custGeom>
            <a:solidFill>
              <a:srgbClr val="256DCA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640509" y="234534"/>
            <a:ext cx="16975522" cy="955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64"/>
              </a:lnSpc>
            </a:pPr>
            <a:r>
              <a:rPr lang="en-US" sz="4803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April 11  —  Authentication System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40509" y="1164869"/>
            <a:ext cx="16975522" cy="505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BFD7FF"/>
                </a:solidFill>
                <a:latin typeface="Calibri (MS)"/>
                <a:ea typeface="Calibri (MS)"/>
                <a:cs typeface="Calibri (MS)"/>
                <a:sym typeface="Calibri (MS)"/>
              </a:rPr>
              <a:t>Milestone 3 Deliverables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667274" y="2177215"/>
            <a:ext cx="5391550" cy="6901491"/>
            <a:chOff x="0" y="0"/>
            <a:chExt cx="7188733" cy="920198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25400" y="25400"/>
              <a:ext cx="7137908" cy="9151112"/>
            </a:xfrm>
            <a:custGeom>
              <a:avLst/>
              <a:gdLst/>
              <a:ahLst/>
              <a:cxnLst/>
              <a:rect r="r" b="b" t="t" l="l"/>
              <a:pathLst>
                <a:path h="9151112" w="7137908">
                  <a:moveTo>
                    <a:pt x="0" y="0"/>
                  </a:moveTo>
                  <a:lnTo>
                    <a:pt x="7137908" y="0"/>
                  </a:lnTo>
                  <a:lnTo>
                    <a:pt x="7137908" y="9151112"/>
                  </a:lnTo>
                  <a:lnTo>
                    <a:pt x="0" y="9151112"/>
                  </a:lnTo>
                  <a:close/>
                </a:path>
              </a:pathLst>
            </a:custGeom>
            <a:solidFill>
              <a:srgbClr val="1E2D40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188708" cy="9201912"/>
            </a:xfrm>
            <a:custGeom>
              <a:avLst/>
              <a:gdLst/>
              <a:ahLst/>
              <a:cxnLst/>
              <a:rect r="r" b="b" t="t" l="l"/>
              <a:pathLst>
                <a:path h="9201912" w="7188708">
                  <a:moveTo>
                    <a:pt x="25400" y="0"/>
                  </a:moveTo>
                  <a:lnTo>
                    <a:pt x="7163308" y="0"/>
                  </a:lnTo>
                  <a:cubicBezTo>
                    <a:pt x="7177405" y="0"/>
                    <a:pt x="7188708" y="11430"/>
                    <a:pt x="7188708" y="25400"/>
                  </a:cubicBezTo>
                  <a:lnTo>
                    <a:pt x="7188708" y="9176512"/>
                  </a:lnTo>
                  <a:cubicBezTo>
                    <a:pt x="7188708" y="9190609"/>
                    <a:pt x="7177277" y="9201912"/>
                    <a:pt x="7163308" y="9201912"/>
                  </a:cubicBezTo>
                  <a:lnTo>
                    <a:pt x="25400" y="9201912"/>
                  </a:lnTo>
                  <a:cubicBezTo>
                    <a:pt x="11303" y="9201912"/>
                    <a:pt x="0" y="9190482"/>
                    <a:pt x="0" y="9176512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9176512"/>
                  </a:lnTo>
                  <a:lnTo>
                    <a:pt x="25400" y="9176512"/>
                  </a:lnTo>
                  <a:lnTo>
                    <a:pt x="25400" y="9151112"/>
                  </a:lnTo>
                  <a:lnTo>
                    <a:pt x="7163308" y="9151112"/>
                  </a:lnTo>
                  <a:lnTo>
                    <a:pt x="7163308" y="9176512"/>
                  </a:lnTo>
                  <a:lnTo>
                    <a:pt x="7137908" y="9176512"/>
                  </a:lnTo>
                  <a:lnTo>
                    <a:pt x="7137908" y="25400"/>
                  </a:lnTo>
                  <a:lnTo>
                    <a:pt x="7163308" y="25400"/>
                  </a:lnTo>
                  <a:lnTo>
                    <a:pt x="7163308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256DCA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915048" y="2392709"/>
            <a:ext cx="4896012" cy="1267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5"/>
              </a:lnSpc>
            </a:pPr>
            <a:r>
              <a:rPr lang="en-US" sz="6004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📝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5048" y="3832050"/>
            <a:ext cx="4896012" cy="720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2"/>
              </a:lnSpc>
            </a:pPr>
            <a:r>
              <a:rPr lang="en-US" sz="2702" b="true">
                <a:solidFill>
                  <a:srgbClr val="256DC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Register Feature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098137" y="4667088"/>
            <a:ext cx="4529823" cy="54912"/>
            <a:chOff x="0" y="0"/>
            <a:chExt cx="6039764" cy="7321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039739" cy="73152"/>
            </a:xfrm>
            <a:custGeom>
              <a:avLst/>
              <a:gdLst/>
              <a:ahLst/>
              <a:cxnLst/>
              <a:rect r="r" b="b" t="t" l="l"/>
              <a:pathLst>
                <a:path h="73152" w="6039739">
                  <a:moveTo>
                    <a:pt x="0" y="0"/>
                  </a:moveTo>
                  <a:lnTo>
                    <a:pt x="6039739" y="0"/>
                  </a:lnTo>
                  <a:lnTo>
                    <a:pt x="6039739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256DCA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052312" y="4871085"/>
            <a:ext cx="4621473" cy="2015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1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New user creation with</a:t>
            </a:r>
          </a:p>
          <a:p>
            <a:pPr algn="ctr">
              <a:lnSpc>
                <a:spcPts val="2341"/>
              </a:lnSpc>
            </a:pPr>
            <a:r>
              <a:rPr lang="en-US" sz="1951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name, email, password,</a:t>
            </a:r>
          </a:p>
          <a:p>
            <a:pPr algn="ctr">
              <a:lnSpc>
                <a:spcPts val="2341"/>
              </a:lnSpc>
            </a:pPr>
            <a:r>
              <a:rPr lang="en-US" sz="1951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city &amp; barangay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6528578" y="2177215"/>
            <a:ext cx="5391550" cy="6901491"/>
            <a:chOff x="0" y="0"/>
            <a:chExt cx="7188733" cy="920198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25400" y="25400"/>
              <a:ext cx="7137908" cy="9151112"/>
            </a:xfrm>
            <a:custGeom>
              <a:avLst/>
              <a:gdLst/>
              <a:ahLst/>
              <a:cxnLst/>
              <a:rect r="r" b="b" t="t" l="l"/>
              <a:pathLst>
                <a:path h="9151112" w="7137908">
                  <a:moveTo>
                    <a:pt x="0" y="0"/>
                  </a:moveTo>
                  <a:lnTo>
                    <a:pt x="7137908" y="0"/>
                  </a:lnTo>
                  <a:lnTo>
                    <a:pt x="7137908" y="9151112"/>
                  </a:lnTo>
                  <a:lnTo>
                    <a:pt x="0" y="9151112"/>
                  </a:lnTo>
                  <a:close/>
                </a:path>
              </a:pathLst>
            </a:custGeom>
            <a:solidFill>
              <a:srgbClr val="1E2D40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188708" cy="9201912"/>
            </a:xfrm>
            <a:custGeom>
              <a:avLst/>
              <a:gdLst/>
              <a:ahLst/>
              <a:cxnLst/>
              <a:rect r="r" b="b" t="t" l="l"/>
              <a:pathLst>
                <a:path h="9201912" w="7188708">
                  <a:moveTo>
                    <a:pt x="25400" y="0"/>
                  </a:moveTo>
                  <a:lnTo>
                    <a:pt x="7163308" y="0"/>
                  </a:lnTo>
                  <a:cubicBezTo>
                    <a:pt x="7177405" y="0"/>
                    <a:pt x="7188708" y="11430"/>
                    <a:pt x="7188708" y="25400"/>
                  </a:cubicBezTo>
                  <a:lnTo>
                    <a:pt x="7188708" y="9176512"/>
                  </a:lnTo>
                  <a:cubicBezTo>
                    <a:pt x="7188708" y="9190609"/>
                    <a:pt x="7177277" y="9201912"/>
                    <a:pt x="7163308" y="9201912"/>
                  </a:cubicBezTo>
                  <a:lnTo>
                    <a:pt x="25400" y="9201912"/>
                  </a:lnTo>
                  <a:cubicBezTo>
                    <a:pt x="11303" y="9201912"/>
                    <a:pt x="0" y="9190482"/>
                    <a:pt x="0" y="9176512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9176512"/>
                  </a:lnTo>
                  <a:lnTo>
                    <a:pt x="25400" y="9176512"/>
                  </a:lnTo>
                  <a:lnTo>
                    <a:pt x="25400" y="9151112"/>
                  </a:lnTo>
                  <a:lnTo>
                    <a:pt x="7163308" y="9151112"/>
                  </a:lnTo>
                  <a:lnTo>
                    <a:pt x="7163308" y="9176512"/>
                  </a:lnTo>
                  <a:lnTo>
                    <a:pt x="7137908" y="9176512"/>
                  </a:lnTo>
                  <a:lnTo>
                    <a:pt x="7137908" y="25400"/>
                  </a:lnTo>
                  <a:lnTo>
                    <a:pt x="7163308" y="25400"/>
                  </a:lnTo>
                  <a:lnTo>
                    <a:pt x="7163308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F97316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6776352" y="2392709"/>
            <a:ext cx="4896012" cy="1267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5"/>
              </a:lnSpc>
            </a:pPr>
            <a:r>
              <a:rPr lang="en-US" sz="6004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🔑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776352" y="3832050"/>
            <a:ext cx="4896012" cy="720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2"/>
              </a:lnSpc>
            </a:pPr>
            <a:r>
              <a:rPr lang="en-US" sz="2702" b="true">
                <a:solidFill>
                  <a:srgbClr val="F9731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Login Feature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6959451" y="4667088"/>
            <a:ext cx="4529823" cy="54912"/>
            <a:chOff x="0" y="0"/>
            <a:chExt cx="6039764" cy="7321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039739" cy="73152"/>
            </a:xfrm>
            <a:custGeom>
              <a:avLst/>
              <a:gdLst/>
              <a:ahLst/>
              <a:cxnLst/>
              <a:rect r="r" b="b" t="t" l="l"/>
              <a:pathLst>
                <a:path h="73152" w="6039739">
                  <a:moveTo>
                    <a:pt x="0" y="0"/>
                  </a:moveTo>
                  <a:lnTo>
                    <a:pt x="6039739" y="0"/>
                  </a:lnTo>
                  <a:lnTo>
                    <a:pt x="6039739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F97316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6913626" y="4871085"/>
            <a:ext cx="4621473" cy="2015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1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Secure login with email</a:t>
            </a:r>
          </a:p>
          <a:p>
            <a:pPr algn="ctr">
              <a:lnSpc>
                <a:spcPts val="2341"/>
              </a:lnSpc>
            </a:pPr>
            <a:r>
              <a:rPr lang="en-US" sz="1951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&amp; password, returns</a:t>
            </a:r>
          </a:p>
          <a:p>
            <a:pPr algn="ctr">
              <a:lnSpc>
                <a:spcPts val="2341"/>
              </a:lnSpc>
            </a:pPr>
            <a:r>
              <a:rPr lang="en-US" sz="1951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a signed JWT token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2389891" y="2177215"/>
            <a:ext cx="5391550" cy="6901491"/>
            <a:chOff x="0" y="0"/>
            <a:chExt cx="7188733" cy="920198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25400" y="25400"/>
              <a:ext cx="7137908" cy="9151112"/>
            </a:xfrm>
            <a:custGeom>
              <a:avLst/>
              <a:gdLst/>
              <a:ahLst/>
              <a:cxnLst/>
              <a:rect r="r" b="b" t="t" l="l"/>
              <a:pathLst>
                <a:path h="9151112" w="7137908">
                  <a:moveTo>
                    <a:pt x="0" y="0"/>
                  </a:moveTo>
                  <a:lnTo>
                    <a:pt x="7137908" y="0"/>
                  </a:lnTo>
                  <a:lnTo>
                    <a:pt x="7137908" y="9151112"/>
                  </a:lnTo>
                  <a:lnTo>
                    <a:pt x="0" y="9151112"/>
                  </a:lnTo>
                  <a:close/>
                </a:path>
              </a:pathLst>
            </a:custGeom>
            <a:solidFill>
              <a:srgbClr val="1E2D40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188708" cy="9201912"/>
            </a:xfrm>
            <a:custGeom>
              <a:avLst/>
              <a:gdLst/>
              <a:ahLst/>
              <a:cxnLst/>
              <a:rect r="r" b="b" t="t" l="l"/>
              <a:pathLst>
                <a:path h="9201912" w="7188708">
                  <a:moveTo>
                    <a:pt x="25400" y="0"/>
                  </a:moveTo>
                  <a:lnTo>
                    <a:pt x="7163308" y="0"/>
                  </a:lnTo>
                  <a:cubicBezTo>
                    <a:pt x="7177405" y="0"/>
                    <a:pt x="7188708" y="11430"/>
                    <a:pt x="7188708" y="25400"/>
                  </a:cubicBezTo>
                  <a:lnTo>
                    <a:pt x="7188708" y="9176512"/>
                  </a:lnTo>
                  <a:cubicBezTo>
                    <a:pt x="7188708" y="9190609"/>
                    <a:pt x="7177277" y="9201912"/>
                    <a:pt x="7163308" y="9201912"/>
                  </a:cubicBezTo>
                  <a:lnTo>
                    <a:pt x="25400" y="9201912"/>
                  </a:lnTo>
                  <a:cubicBezTo>
                    <a:pt x="11303" y="9201912"/>
                    <a:pt x="0" y="9190482"/>
                    <a:pt x="0" y="9176512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9176512"/>
                  </a:lnTo>
                  <a:lnTo>
                    <a:pt x="25400" y="9176512"/>
                  </a:lnTo>
                  <a:lnTo>
                    <a:pt x="25400" y="9151112"/>
                  </a:lnTo>
                  <a:lnTo>
                    <a:pt x="7163308" y="9151112"/>
                  </a:lnTo>
                  <a:lnTo>
                    <a:pt x="7163308" y="9176512"/>
                  </a:lnTo>
                  <a:lnTo>
                    <a:pt x="7137908" y="9176512"/>
                  </a:lnTo>
                  <a:lnTo>
                    <a:pt x="7137908" y="25400"/>
                  </a:lnTo>
                  <a:lnTo>
                    <a:pt x="7163308" y="25400"/>
                  </a:lnTo>
                  <a:lnTo>
                    <a:pt x="7163308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16A34A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2637665" y="2392709"/>
            <a:ext cx="4896012" cy="1267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5"/>
              </a:lnSpc>
            </a:pPr>
            <a:r>
              <a:rPr lang="en-US" sz="6004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🚪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637665" y="3832050"/>
            <a:ext cx="4896012" cy="720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2"/>
              </a:lnSpc>
            </a:pPr>
            <a:r>
              <a:rPr lang="en-US" sz="2702" b="true">
                <a:solidFill>
                  <a:srgbClr val="16A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Logout Feature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2820764" y="4667088"/>
            <a:ext cx="4529823" cy="54912"/>
            <a:chOff x="0" y="0"/>
            <a:chExt cx="6039764" cy="7321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039739" cy="73152"/>
            </a:xfrm>
            <a:custGeom>
              <a:avLst/>
              <a:gdLst/>
              <a:ahLst/>
              <a:cxnLst/>
              <a:rect r="r" b="b" t="t" l="l"/>
              <a:pathLst>
                <a:path h="73152" w="6039739">
                  <a:moveTo>
                    <a:pt x="0" y="0"/>
                  </a:moveTo>
                  <a:lnTo>
                    <a:pt x="6039739" y="0"/>
                  </a:lnTo>
                  <a:lnTo>
                    <a:pt x="6039739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16A34A"/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12774930" y="4871085"/>
            <a:ext cx="4621473" cy="2015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1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Clears token from</a:t>
            </a:r>
          </a:p>
          <a:p>
            <a:pPr algn="ctr">
              <a:lnSpc>
                <a:spcPts val="2341"/>
              </a:lnSpc>
            </a:pPr>
            <a:r>
              <a:rPr lang="en-US" sz="1951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localStorage and resets</a:t>
            </a:r>
          </a:p>
          <a:p>
            <a:pPr algn="ctr">
              <a:lnSpc>
                <a:spcPts val="2341"/>
              </a:lnSpc>
            </a:pPr>
            <a:r>
              <a:rPr lang="en-US" sz="1951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all protected state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10295039"/>
            <a:chOff x="0" y="0"/>
            <a:chExt cx="24396967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97725" cy="1921745"/>
            <a:chOff x="0" y="0"/>
            <a:chExt cx="24396967" cy="256232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96954" cy="2562352"/>
            </a:xfrm>
            <a:custGeom>
              <a:avLst/>
              <a:gdLst/>
              <a:ahLst/>
              <a:cxnLst/>
              <a:rect r="r" b="b" t="t" l="l"/>
              <a:pathLst>
                <a:path h="2562352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2562352"/>
                  </a:lnTo>
                  <a:lnTo>
                    <a:pt x="0" y="2562352"/>
                  </a:lnTo>
                  <a:close/>
                </a:path>
              </a:pathLst>
            </a:custGeom>
            <a:solidFill>
              <a:srgbClr val="256DCA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640509" y="234534"/>
            <a:ext cx="16975522" cy="955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64"/>
              </a:lnSpc>
            </a:pPr>
            <a:r>
              <a:rPr lang="en-US" sz="4803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User Credentials System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40509" y="1164869"/>
            <a:ext cx="16975522" cy="505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BFD7FF"/>
                </a:solidFill>
                <a:latin typeface="Calibri (MS)"/>
                <a:ea typeface="Calibri (MS)"/>
                <a:cs typeface="Calibri (MS)"/>
                <a:sym typeface="Calibri (MS)"/>
              </a:rPr>
              <a:t>How authentication is implemented securely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534772" y="2113340"/>
            <a:ext cx="8127368" cy="6891957"/>
            <a:chOff x="0" y="0"/>
            <a:chExt cx="10836491" cy="918927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9050" y="19050"/>
              <a:ext cx="10798429" cy="9151112"/>
            </a:xfrm>
            <a:custGeom>
              <a:avLst/>
              <a:gdLst/>
              <a:ahLst/>
              <a:cxnLst/>
              <a:rect r="r" b="b" t="t" l="l"/>
              <a:pathLst>
                <a:path h="9151112" w="10798429">
                  <a:moveTo>
                    <a:pt x="0" y="0"/>
                  </a:moveTo>
                  <a:lnTo>
                    <a:pt x="10798429" y="0"/>
                  </a:lnTo>
                  <a:lnTo>
                    <a:pt x="10798429" y="9151112"/>
                  </a:lnTo>
                  <a:lnTo>
                    <a:pt x="0" y="9151112"/>
                  </a:lnTo>
                  <a:close/>
                </a:path>
              </a:pathLst>
            </a:custGeom>
            <a:solidFill>
              <a:srgbClr val="1E2D40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836529" cy="9189212"/>
            </a:xfrm>
            <a:custGeom>
              <a:avLst/>
              <a:gdLst/>
              <a:ahLst/>
              <a:cxnLst/>
              <a:rect r="r" b="b" t="t" l="l"/>
              <a:pathLst>
                <a:path h="9189212" w="10836529">
                  <a:moveTo>
                    <a:pt x="19050" y="0"/>
                  </a:moveTo>
                  <a:lnTo>
                    <a:pt x="10817479" y="0"/>
                  </a:lnTo>
                  <a:cubicBezTo>
                    <a:pt x="10828020" y="0"/>
                    <a:pt x="10836529" y="8509"/>
                    <a:pt x="10836529" y="19050"/>
                  </a:cubicBezTo>
                  <a:lnTo>
                    <a:pt x="10836529" y="9170162"/>
                  </a:lnTo>
                  <a:cubicBezTo>
                    <a:pt x="10836529" y="9180703"/>
                    <a:pt x="10828020" y="9189212"/>
                    <a:pt x="10817479" y="9189212"/>
                  </a:cubicBezTo>
                  <a:lnTo>
                    <a:pt x="19050" y="9189212"/>
                  </a:lnTo>
                  <a:cubicBezTo>
                    <a:pt x="8509" y="9189212"/>
                    <a:pt x="0" y="9180703"/>
                    <a:pt x="0" y="9170162"/>
                  </a:cubicBezTo>
                  <a:lnTo>
                    <a:pt x="0" y="19050"/>
                  </a:lnTo>
                  <a:cubicBezTo>
                    <a:pt x="0" y="8509"/>
                    <a:pt x="8509" y="0"/>
                    <a:pt x="19050" y="0"/>
                  </a:cubicBezTo>
                  <a:moveTo>
                    <a:pt x="19050" y="38100"/>
                  </a:moveTo>
                  <a:lnTo>
                    <a:pt x="19050" y="19050"/>
                  </a:lnTo>
                  <a:lnTo>
                    <a:pt x="38100" y="19050"/>
                  </a:lnTo>
                  <a:lnTo>
                    <a:pt x="38100" y="9170162"/>
                  </a:lnTo>
                  <a:lnTo>
                    <a:pt x="19050" y="9170162"/>
                  </a:lnTo>
                  <a:lnTo>
                    <a:pt x="19050" y="9151112"/>
                  </a:lnTo>
                  <a:lnTo>
                    <a:pt x="10817479" y="9151112"/>
                  </a:lnTo>
                  <a:lnTo>
                    <a:pt x="10817479" y="9170162"/>
                  </a:lnTo>
                  <a:lnTo>
                    <a:pt x="10798429" y="9170162"/>
                  </a:lnTo>
                  <a:lnTo>
                    <a:pt x="10798429" y="19050"/>
                  </a:lnTo>
                  <a:lnTo>
                    <a:pt x="10817479" y="19050"/>
                  </a:lnTo>
                  <a:lnTo>
                    <a:pt x="10817479" y="38100"/>
                  </a:lnTo>
                  <a:lnTo>
                    <a:pt x="19050" y="38100"/>
                  </a:lnTo>
                  <a:close/>
                </a:path>
              </a:pathLst>
            </a:custGeom>
            <a:solidFill>
              <a:srgbClr val="256DCA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915048" y="2322109"/>
            <a:ext cx="7366816" cy="583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256DC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Security Implementation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46411" y="3077080"/>
            <a:ext cx="503453" cy="720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🔒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32744" y="3096130"/>
            <a:ext cx="2562463" cy="358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F9731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bcryptjs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32744" y="3480483"/>
            <a:ext cx="6543218" cy="564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Passwords hashed with salt rounds = 12</a:t>
            </a:r>
          </a:p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before storing in database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46411" y="4202678"/>
            <a:ext cx="503453" cy="720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🎟️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32744" y="4221728"/>
            <a:ext cx="2562463" cy="358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F9731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JSON Web Token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32744" y="4606071"/>
            <a:ext cx="6543218" cy="564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7-day signed token issued on login/register</a:t>
            </a:r>
          </a:p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Stored in localStorage as 'nh_token'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46411" y="5328266"/>
            <a:ext cx="503453" cy="720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🛡️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532744" y="5347316"/>
            <a:ext cx="2562463" cy="358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F9731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Helmet + CORS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32744" y="5731659"/>
            <a:ext cx="6543218" cy="564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Security headers set; API only accepts</a:t>
            </a:r>
          </a:p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requests from the frontend origin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46411" y="6453854"/>
            <a:ext cx="503453" cy="720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⚡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532744" y="6472904"/>
            <a:ext cx="2562463" cy="358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F9731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Rate Limiting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532744" y="6857257"/>
            <a:ext cx="6543218" cy="564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Auth endpoints limited to 20 requests</a:t>
            </a:r>
          </a:p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per 15 minutes to block brute-force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46411" y="7579443"/>
            <a:ext cx="503453" cy="720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✅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532744" y="7598493"/>
            <a:ext cx="2562463" cy="358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F9731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express-validator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532744" y="7982845"/>
            <a:ext cx="6543218" cy="564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All register/login inputs validated</a:t>
            </a:r>
          </a:p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(required fields, email format, min length)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9319870" y="2113340"/>
            <a:ext cx="8401898" cy="6891957"/>
            <a:chOff x="0" y="0"/>
            <a:chExt cx="11202530" cy="918927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19050" y="19050"/>
              <a:ext cx="11164443" cy="9151112"/>
            </a:xfrm>
            <a:custGeom>
              <a:avLst/>
              <a:gdLst/>
              <a:ahLst/>
              <a:cxnLst/>
              <a:rect r="r" b="b" t="t" l="l"/>
              <a:pathLst>
                <a:path h="9151112" w="11164443">
                  <a:moveTo>
                    <a:pt x="0" y="0"/>
                  </a:moveTo>
                  <a:lnTo>
                    <a:pt x="11164443" y="0"/>
                  </a:lnTo>
                  <a:lnTo>
                    <a:pt x="11164443" y="9151112"/>
                  </a:lnTo>
                  <a:lnTo>
                    <a:pt x="0" y="9151112"/>
                  </a:lnTo>
                  <a:close/>
                </a:path>
              </a:pathLst>
            </a:custGeom>
            <a:solidFill>
              <a:srgbClr val="1E2D40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1202543" cy="9189212"/>
            </a:xfrm>
            <a:custGeom>
              <a:avLst/>
              <a:gdLst/>
              <a:ahLst/>
              <a:cxnLst/>
              <a:rect r="r" b="b" t="t" l="l"/>
              <a:pathLst>
                <a:path h="9189212" w="11202543">
                  <a:moveTo>
                    <a:pt x="19050" y="0"/>
                  </a:moveTo>
                  <a:lnTo>
                    <a:pt x="11183493" y="0"/>
                  </a:lnTo>
                  <a:cubicBezTo>
                    <a:pt x="11194035" y="0"/>
                    <a:pt x="11202543" y="8509"/>
                    <a:pt x="11202543" y="19050"/>
                  </a:cubicBezTo>
                  <a:lnTo>
                    <a:pt x="11202543" y="9170162"/>
                  </a:lnTo>
                  <a:cubicBezTo>
                    <a:pt x="11202543" y="9180703"/>
                    <a:pt x="11194035" y="9189212"/>
                    <a:pt x="11183493" y="9189212"/>
                  </a:cubicBezTo>
                  <a:lnTo>
                    <a:pt x="19050" y="9189212"/>
                  </a:lnTo>
                  <a:cubicBezTo>
                    <a:pt x="8509" y="9189212"/>
                    <a:pt x="0" y="9180703"/>
                    <a:pt x="0" y="9170162"/>
                  </a:cubicBezTo>
                  <a:lnTo>
                    <a:pt x="0" y="19050"/>
                  </a:lnTo>
                  <a:cubicBezTo>
                    <a:pt x="0" y="8509"/>
                    <a:pt x="8509" y="0"/>
                    <a:pt x="19050" y="0"/>
                  </a:cubicBezTo>
                  <a:moveTo>
                    <a:pt x="19050" y="38100"/>
                  </a:moveTo>
                  <a:lnTo>
                    <a:pt x="19050" y="19050"/>
                  </a:lnTo>
                  <a:lnTo>
                    <a:pt x="38100" y="19050"/>
                  </a:lnTo>
                  <a:lnTo>
                    <a:pt x="38100" y="9170162"/>
                  </a:lnTo>
                  <a:lnTo>
                    <a:pt x="19050" y="9170162"/>
                  </a:lnTo>
                  <a:lnTo>
                    <a:pt x="19050" y="9151112"/>
                  </a:lnTo>
                  <a:lnTo>
                    <a:pt x="11183493" y="9151112"/>
                  </a:lnTo>
                  <a:lnTo>
                    <a:pt x="11183493" y="9170162"/>
                  </a:lnTo>
                  <a:lnTo>
                    <a:pt x="11164443" y="9170162"/>
                  </a:lnTo>
                  <a:lnTo>
                    <a:pt x="11164443" y="19050"/>
                  </a:lnTo>
                  <a:lnTo>
                    <a:pt x="11183493" y="19050"/>
                  </a:lnTo>
                  <a:lnTo>
                    <a:pt x="11183493" y="38100"/>
                  </a:lnTo>
                  <a:lnTo>
                    <a:pt x="19050" y="38100"/>
                  </a:lnTo>
                  <a:close/>
                </a:path>
              </a:pathLst>
            </a:custGeom>
            <a:solidFill>
              <a:srgbClr val="F97316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9700146" y="2322109"/>
            <a:ext cx="7641355" cy="583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F9731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Auth Flow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9471441" y="3088510"/>
            <a:ext cx="480431" cy="480431"/>
            <a:chOff x="0" y="0"/>
            <a:chExt cx="640575" cy="640575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40588" cy="640588"/>
            </a:xfrm>
            <a:custGeom>
              <a:avLst/>
              <a:gdLst/>
              <a:ahLst/>
              <a:cxnLst/>
              <a:rect r="r" b="b" t="t" l="l"/>
              <a:pathLst>
                <a:path h="640588" w="640588">
                  <a:moveTo>
                    <a:pt x="0" y="0"/>
                  </a:moveTo>
                  <a:lnTo>
                    <a:pt x="640588" y="0"/>
                  </a:lnTo>
                  <a:lnTo>
                    <a:pt x="640588" y="640588"/>
                  </a:lnTo>
                  <a:lnTo>
                    <a:pt x="0" y="640588"/>
                  </a:lnTo>
                  <a:close/>
                </a:path>
              </a:pathLst>
            </a:custGeom>
            <a:solidFill>
              <a:srgbClr val="256DCA"/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10180587" y="3105655"/>
            <a:ext cx="7092286" cy="458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1. User fills Register / Login form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9704794" y="3568951"/>
            <a:ext cx="54912" cy="370618"/>
            <a:chOff x="0" y="0"/>
            <a:chExt cx="73216" cy="494157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3152" cy="494157"/>
            </a:xfrm>
            <a:custGeom>
              <a:avLst/>
              <a:gdLst/>
              <a:ahLst/>
              <a:cxnLst/>
              <a:rect r="r" b="b" t="t" l="l"/>
              <a:pathLst>
                <a:path h="494157" w="73152">
                  <a:moveTo>
                    <a:pt x="0" y="0"/>
                  </a:moveTo>
                  <a:lnTo>
                    <a:pt x="73152" y="0"/>
                  </a:lnTo>
                  <a:lnTo>
                    <a:pt x="73152" y="494157"/>
                  </a:lnTo>
                  <a:lnTo>
                    <a:pt x="0" y="494157"/>
                  </a:lnTo>
                  <a:close/>
                </a:path>
              </a:pathLst>
            </a:custGeom>
            <a:solidFill>
              <a:srgbClr val="64748B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9471441" y="3939569"/>
            <a:ext cx="480431" cy="480431"/>
            <a:chOff x="0" y="0"/>
            <a:chExt cx="640575" cy="640575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40588" cy="640588"/>
            </a:xfrm>
            <a:custGeom>
              <a:avLst/>
              <a:gdLst/>
              <a:ahLst/>
              <a:cxnLst/>
              <a:rect r="r" b="b" t="t" l="l"/>
              <a:pathLst>
                <a:path h="640588" w="640588">
                  <a:moveTo>
                    <a:pt x="0" y="0"/>
                  </a:moveTo>
                  <a:lnTo>
                    <a:pt x="640588" y="0"/>
                  </a:lnTo>
                  <a:lnTo>
                    <a:pt x="640588" y="640588"/>
                  </a:lnTo>
                  <a:lnTo>
                    <a:pt x="0" y="640588"/>
                  </a:lnTo>
                  <a:close/>
                </a:path>
              </a:pathLst>
            </a:custGeom>
            <a:solidFill>
              <a:srgbClr val="06B6D4"/>
            </a:solid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10180587" y="3956714"/>
            <a:ext cx="7092286" cy="458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2. Frontend sends POST to /api/auth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9704794" y="4420010"/>
            <a:ext cx="54912" cy="370618"/>
            <a:chOff x="0" y="0"/>
            <a:chExt cx="73216" cy="494157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3152" cy="494157"/>
            </a:xfrm>
            <a:custGeom>
              <a:avLst/>
              <a:gdLst/>
              <a:ahLst/>
              <a:cxnLst/>
              <a:rect r="r" b="b" t="t" l="l"/>
              <a:pathLst>
                <a:path h="494157" w="73152">
                  <a:moveTo>
                    <a:pt x="0" y="0"/>
                  </a:moveTo>
                  <a:lnTo>
                    <a:pt x="73152" y="0"/>
                  </a:lnTo>
                  <a:lnTo>
                    <a:pt x="73152" y="494157"/>
                  </a:lnTo>
                  <a:lnTo>
                    <a:pt x="0" y="494157"/>
                  </a:lnTo>
                  <a:close/>
                </a:path>
              </a:pathLst>
            </a:custGeom>
            <a:solidFill>
              <a:srgbClr val="64748B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9471441" y="4790627"/>
            <a:ext cx="480431" cy="480431"/>
            <a:chOff x="0" y="0"/>
            <a:chExt cx="640575" cy="640575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40588" cy="640588"/>
            </a:xfrm>
            <a:custGeom>
              <a:avLst/>
              <a:gdLst/>
              <a:ahLst/>
              <a:cxnLst/>
              <a:rect r="r" b="b" t="t" l="l"/>
              <a:pathLst>
                <a:path h="640588" w="640588">
                  <a:moveTo>
                    <a:pt x="0" y="0"/>
                  </a:moveTo>
                  <a:lnTo>
                    <a:pt x="640588" y="0"/>
                  </a:lnTo>
                  <a:lnTo>
                    <a:pt x="640588" y="640588"/>
                  </a:lnTo>
                  <a:lnTo>
                    <a:pt x="0" y="640588"/>
                  </a:lnTo>
                  <a:close/>
                </a:path>
              </a:pathLst>
            </a:custGeom>
            <a:solidFill>
              <a:srgbClr val="7C3AED"/>
            </a:solidFill>
          </p:spPr>
        </p:sp>
      </p:grpSp>
      <p:sp>
        <p:nvSpPr>
          <p:cNvPr name="TextBox 43" id="43"/>
          <p:cNvSpPr txBox="true"/>
          <p:nvPr/>
        </p:nvSpPr>
        <p:spPr>
          <a:xfrm rot="0">
            <a:off x="10180587" y="4807772"/>
            <a:ext cx="7092286" cy="458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3. Server validates input (express-validator)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9704794" y="5271059"/>
            <a:ext cx="54912" cy="370618"/>
            <a:chOff x="0" y="0"/>
            <a:chExt cx="73216" cy="494157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3152" cy="494157"/>
            </a:xfrm>
            <a:custGeom>
              <a:avLst/>
              <a:gdLst/>
              <a:ahLst/>
              <a:cxnLst/>
              <a:rect r="r" b="b" t="t" l="l"/>
              <a:pathLst>
                <a:path h="494157" w="73152">
                  <a:moveTo>
                    <a:pt x="0" y="0"/>
                  </a:moveTo>
                  <a:lnTo>
                    <a:pt x="73152" y="0"/>
                  </a:lnTo>
                  <a:lnTo>
                    <a:pt x="73152" y="494157"/>
                  </a:lnTo>
                  <a:lnTo>
                    <a:pt x="0" y="494157"/>
                  </a:lnTo>
                  <a:close/>
                </a:path>
              </a:pathLst>
            </a:custGeom>
            <a:solidFill>
              <a:srgbClr val="64748B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9471441" y="5641686"/>
            <a:ext cx="480431" cy="480431"/>
            <a:chOff x="0" y="0"/>
            <a:chExt cx="640575" cy="640575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640588" cy="640588"/>
            </a:xfrm>
            <a:custGeom>
              <a:avLst/>
              <a:gdLst/>
              <a:ahLst/>
              <a:cxnLst/>
              <a:rect r="r" b="b" t="t" l="l"/>
              <a:pathLst>
                <a:path h="640588" w="640588">
                  <a:moveTo>
                    <a:pt x="0" y="0"/>
                  </a:moveTo>
                  <a:lnTo>
                    <a:pt x="640588" y="0"/>
                  </a:lnTo>
                  <a:lnTo>
                    <a:pt x="640588" y="640588"/>
                  </a:lnTo>
                  <a:lnTo>
                    <a:pt x="0" y="640588"/>
                  </a:lnTo>
                  <a:close/>
                </a:path>
              </a:pathLst>
            </a:custGeom>
            <a:solidFill>
              <a:srgbClr val="F97316"/>
            </a:solidFill>
          </p:spPr>
        </p:sp>
      </p:grpSp>
      <p:sp>
        <p:nvSpPr>
          <p:cNvPr name="TextBox 48" id="48"/>
          <p:cNvSpPr txBox="true"/>
          <p:nvPr/>
        </p:nvSpPr>
        <p:spPr>
          <a:xfrm rot="0">
            <a:off x="10180587" y="5658831"/>
            <a:ext cx="7092286" cy="458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4. Password hashed (Register) or compared (Login)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9704794" y="6122118"/>
            <a:ext cx="54912" cy="370618"/>
            <a:chOff x="0" y="0"/>
            <a:chExt cx="73216" cy="494157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73152" cy="494157"/>
            </a:xfrm>
            <a:custGeom>
              <a:avLst/>
              <a:gdLst/>
              <a:ahLst/>
              <a:cxnLst/>
              <a:rect r="r" b="b" t="t" l="l"/>
              <a:pathLst>
                <a:path h="494157" w="73152">
                  <a:moveTo>
                    <a:pt x="0" y="0"/>
                  </a:moveTo>
                  <a:lnTo>
                    <a:pt x="73152" y="0"/>
                  </a:lnTo>
                  <a:lnTo>
                    <a:pt x="73152" y="494157"/>
                  </a:lnTo>
                  <a:lnTo>
                    <a:pt x="0" y="494157"/>
                  </a:lnTo>
                  <a:close/>
                </a:path>
              </a:pathLst>
            </a:custGeom>
            <a:solidFill>
              <a:srgbClr val="64748B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9471441" y="6492745"/>
            <a:ext cx="480431" cy="480431"/>
            <a:chOff x="0" y="0"/>
            <a:chExt cx="640575" cy="640575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640588" cy="640588"/>
            </a:xfrm>
            <a:custGeom>
              <a:avLst/>
              <a:gdLst/>
              <a:ahLst/>
              <a:cxnLst/>
              <a:rect r="r" b="b" t="t" l="l"/>
              <a:pathLst>
                <a:path h="640588" w="640588">
                  <a:moveTo>
                    <a:pt x="0" y="0"/>
                  </a:moveTo>
                  <a:lnTo>
                    <a:pt x="640588" y="0"/>
                  </a:lnTo>
                  <a:lnTo>
                    <a:pt x="640588" y="640588"/>
                  </a:lnTo>
                  <a:lnTo>
                    <a:pt x="0" y="640588"/>
                  </a:lnTo>
                  <a:close/>
                </a:path>
              </a:pathLst>
            </a:custGeom>
            <a:solidFill>
              <a:srgbClr val="16A34A"/>
            </a:solidFill>
          </p:spPr>
        </p:sp>
      </p:grpSp>
      <p:sp>
        <p:nvSpPr>
          <p:cNvPr name="TextBox 53" id="53"/>
          <p:cNvSpPr txBox="true"/>
          <p:nvPr/>
        </p:nvSpPr>
        <p:spPr>
          <a:xfrm rot="0">
            <a:off x="10180587" y="6509890"/>
            <a:ext cx="7092286" cy="458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5. JWT signed and returned to client</a:t>
            </a:r>
          </a:p>
        </p:txBody>
      </p:sp>
      <p:grpSp>
        <p:nvGrpSpPr>
          <p:cNvPr name="Group 54" id="54"/>
          <p:cNvGrpSpPr/>
          <p:nvPr/>
        </p:nvGrpSpPr>
        <p:grpSpPr>
          <a:xfrm rot="0">
            <a:off x="9704794" y="6973176"/>
            <a:ext cx="54912" cy="370618"/>
            <a:chOff x="0" y="0"/>
            <a:chExt cx="73216" cy="494157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73152" cy="494157"/>
            </a:xfrm>
            <a:custGeom>
              <a:avLst/>
              <a:gdLst/>
              <a:ahLst/>
              <a:cxnLst/>
              <a:rect r="r" b="b" t="t" l="l"/>
              <a:pathLst>
                <a:path h="494157" w="73152">
                  <a:moveTo>
                    <a:pt x="0" y="0"/>
                  </a:moveTo>
                  <a:lnTo>
                    <a:pt x="73152" y="0"/>
                  </a:lnTo>
                  <a:lnTo>
                    <a:pt x="73152" y="494157"/>
                  </a:lnTo>
                  <a:lnTo>
                    <a:pt x="0" y="494157"/>
                  </a:lnTo>
                  <a:close/>
                </a:path>
              </a:pathLst>
            </a:custGeom>
            <a:solidFill>
              <a:srgbClr val="64748B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9471441" y="7343794"/>
            <a:ext cx="480431" cy="480431"/>
            <a:chOff x="0" y="0"/>
            <a:chExt cx="640575" cy="640575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40588" cy="640588"/>
            </a:xfrm>
            <a:custGeom>
              <a:avLst/>
              <a:gdLst/>
              <a:ahLst/>
              <a:cxnLst/>
              <a:rect r="r" b="b" t="t" l="l"/>
              <a:pathLst>
                <a:path h="640588" w="640588">
                  <a:moveTo>
                    <a:pt x="0" y="0"/>
                  </a:moveTo>
                  <a:lnTo>
                    <a:pt x="640588" y="0"/>
                  </a:lnTo>
                  <a:lnTo>
                    <a:pt x="640588" y="640588"/>
                  </a:lnTo>
                  <a:lnTo>
                    <a:pt x="0" y="640588"/>
                  </a:lnTo>
                  <a:close/>
                </a:path>
              </a:pathLst>
            </a:custGeom>
            <a:solidFill>
              <a:srgbClr val="256DCA"/>
            </a:solidFill>
          </p:spPr>
        </p:sp>
      </p:grpSp>
      <p:sp>
        <p:nvSpPr>
          <p:cNvPr name="TextBox 58" id="58"/>
          <p:cNvSpPr txBox="true"/>
          <p:nvPr/>
        </p:nvSpPr>
        <p:spPr>
          <a:xfrm rot="0">
            <a:off x="10180587" y="7360939"/>
            <a:ext cx="7092286" cy="458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6. Token stored → user state set in AuthContext</a:t>
            </a:r>
          </a:p>
        </p:txBody>
      </p:sp>
      <p:grpSp>
        <p:nvGrpSpPr>
          <p:cNvPr name="Group 59" id="59"/>
          <p:cNvGrpSpPr/>
          <p:nvPr/>
        </p:nvGrpSpPr>
        <p:grpSpPr>
          <a:xfrm rot="0">
            <a:off x="9704794" y="7824235"/>
            <a:ext cx="54912" cy="370618"/>
            <a:chOff x="0" y="0"/>
            <a:chExt cx="73216" cy="494157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73152" cy="494157"/>
            </a:xfrm>
            <a:custGeom>
              <a:avLst/>
              <a:gdLst/>
              <a:ahLst/>
              <a:cxnLst/>
              <a:rect r="r" b="b" t="t" l="l"/>
              <a:pathLst>
                <a:path h="494157" w="73152">
                  <a:moveTo>
                    <a:pt x="0" y="0"/>
                  </a:moveTo>
                  <a:lnTo>
                    <a:pt x="73152" y="0"/>
                  </a:lnTo>
                  <a:lnTo>
                    <a:pt x="73152" y="494157"/>
                  </a:lnTo>
                  <a:lnTo>
                    <a:pt x="0" y="494157"/>
                  </a:lnTo>
                  <a:close/>
                </a:path>
              </a:pathLst>
            </a:custGeom>
            <a:solidFill>
              <a:srgbClr val="64748B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9471441" y="8194853"/>
            <a:ext cx="480431" cy="480431"/>
            <a:chOff x="0" y="0"/>
            <a:chExt cx="640575" cy="640575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640588" cy="640588"/>
            </a:xfrm>
            <a:custGeom>
              <a:avLst/>
              <a:gdLst/>
              <a:ahLst/>
              <a:cxnLst/>
              <a:rect r="r" b="b" t="t" l="l"/>
              <a:pathLst>
                <a:path h="640588" w="640588">
                  <a:moveTo>
                    <a:pt x="0" y="0"/>
                  </a:moveTo>
                  <a:lnTo>
                    <a:pt x="640588" y="0"/>
                  </a:lnTo>
                  <a:lnTo>
                    <a:pt x="640588" y="640588"/>
                  </a:lnTo>
                  <a:lnTo>
                    <a:pt x="0" y="640588"/>
                  </a:lnTo>
                  <a:close/>
                </a:path>
              </a:pathLst>
            </a:custGeom>
            <a:solidFill>
              <a:srgbClr val="06B6D4"/>
            </a:solidFill>
          </p:spPr>
        </p:sp>
      </p:grpSp>
      <p:sp>
        <p:nvSpPr>
          <p:cNvPr name="TextBox 63" id="63"/>
          <p:cNvSpPr txBox="true"/>
          <p:nvPr/>
        </p:nvSpPr>
        <p:spPr>
          <a:xfrm rot="0">
            <a:off x="10180587" y="8211998"/>
            <a:ext cx="7092286" cy="458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7. Protected routes check token via middleware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10295039"/>
            <a:chOff x="0" y="0"/>
            <a:chExt cx="24396967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97725" cy="10295039"/>
            <a:chOff x="0" y="0"/>
            <a:chExt cx="24396967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9695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7961500"/>
            <a:ext cx="18297725" cy="2333539"/>
            <a:chOff x="0" y="0"/>
            <a:chExt cx="24396967" cy="311138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96954" cy="3111373"/>
            </a:xfrm>
            <a:custGeom>
              <a:avLst/>
              <a:gdLst/>
              <a:ahLst/>
              <a:cxnLst/>
              <a:rect r="r" b="b" t="t" l="l"/>
              <a:pathLst>
                <a:path h="3111373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3111373"/>
                  </a:lnTo>
                  <a:lnTo>
                    <a:pt x="0" y="3111373"/>
                  </a:lnTo>
                  <a:close/>
                </a:path>
              </a:pathLst>
            </a:custGeom>
            <a:solidFill>
              <a:srgbClr val="256DCA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8190205" y="1412786"/>
            <a:ext cx="1876130" cy="14241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46"/>
              </a:lnSpc>
            </a:pPr>
            <a:r>
              <a:rPr lang="en-US" sz="7205" b="true">
                <a:solidFill>
                  <a:srgbClr val="256DC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NH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5765225" y="3019882"/>
            <a:ext cx="6863363" cy="82363"/>
            <a:chOff x="0" y="0"/>
            <a:chExt cx="9151150" cy="10981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151112" cy="109855"/>
            </a:xfrm>
            <a:custGeom>
              <a:avLst/>
              <a:gdLst/>
              <a:ahLst/>
              <a:cxnLst/>
              <a:rect r="r" b="b" t="t" l="l"/>
              <a:pathLst>
                <a:path h="109855" w="9151112">
                  <a:moveTo>
                    <a:pt x="0" y="0"/>
                  </a:moveTo>
                  <a:lnTo>
                    <a:pt x="9151112" y="0"/>
                  </a:lnTo>
                  <a:lnTo>
                    <a:pt x="9151112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256DCA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3523117" y="3216307"/>
            <a:ext cx="11210296" cy="1267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45"/>
              </a:lnSpc>
            </a:pPr>
            <a:r>
              <a:rPr lang="en-US" sz="5704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NeighborHub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836783" y="4518393"/>
            <a:ext cx="12582973" cy="789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2"/>
              </a:lnSpc>
            </a:pPr>
            <a:r>
              <a:rPr lang="en-US" sz="2702">
                <a:solidFill>
                  <a:srgbClr val="BFD7FF"/>
                </a:solidFill>
                <a:latin typeface="Calibri (MS)"/>
                <a:ea typeface="Calibri (MS)"/>
                <a:cs typeface="Calibri (MS)"/>
                <a:sym typeface="Calibri (MS)"/>
              </a:rPr>
              <a:t>Local Community Marketplace &amp; Service Platform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150450" y="5626046"/>
            <a:ext cx="13955649" cy="573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1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React 19 + Vite  •  Node.js / Express  •  MySQL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150450" y="6312389"/>
            <a:ext cx="13955649" cy="573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1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JWT Auth  •  Multer Uploads  •  Real-time Polling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582126" y="8205559"/>
            <a:ext cx="7092286" cy="1082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3"/>
              </a:lnSpc>
            </a:pPr>
            <a:r>
              <a:rPr lang="en-US" sz="3903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Thank You!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836783" y="9194997"/>
            <a:ext cx="12582973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1">
                <a:solidFill>
                  <a:srgbClr val="BFD7FF"/>
                </a:solidFill>
                <a:latin typeface="Calibri (MS)"/>
                <a:ea typeface="Calibri (MS)"/>
                <a:cs typeface="Calibri (MS)"/>
                <a:sym typeface="Calibri (MS)"/>
              </a:rPr>
              <a:t>Presented by  Earl Brian Baclohan, Justine Wayne Miaga &amp; Knoxville Nur A. Suazola •  Capstone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DAHFw3iohso</dc:identifier>
  <dcterms:modified xsi:type="dcterms:W3CDTF">2011-08-01T06:04:30Z</dcterms:modified>
  <cp:revision>1</cp:revision>
  <dc:title>USERS</dc:title>
</cp:coreProperties>
</file>